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1" autoAdjust="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Transactions</c:v>
                </c:pt>
              </c:strCache>
            </c:strRef>
          </c:tx>
          <c:spPr>
            <a:ln w="38100" cap="flat">
              <a:solidFill>
                <a:srgbClr val="2C5F2D"/>
              </a:solidFill>
              <a:prstDash val="solid"/>
              <a:round/>
            </a:ln>
            <a:effectLst/>
          </c:spPr>
          <c:marker>
            <c:symbol val="circle"/>
            <c:size val="8"/>
            <c:spPr>
              <a:solidFill>
                <a:srgbClr val="2C5F2D"/>
              </a:solidFill>
              <a:ln w="9525" cap="flat">
                <a:solidFill>
                  <a:srgbClr val="2C5F2D"/>
                </a:solidFill>
                <a:prstDash val="solid"/>
                <a:round/>
              </a:ln>
              <a:effectLst/>
            </c:spPr>
          </c:marker>
          <c:dLbls>
            <c:numFmt formatCode="#,##0" sourceLinked="0"/>
            <c:spPr>
              <a:noFill/>
              <a:ln>
                <a:noFill/>
              </a:ln>
              <a:effectLst/>
            </c:spPr>
            <c:txPr>
              <a:bodyPr/>
              <a:lstStyle/>
              <a:p>
                <a:pPr>
                  <a:defRPr sz="1000" b="0" i="0" u="none" strike="noStrike">
                    <a:solidFill>
                      <a:srgbClr val="333333"/>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2016</c:v>
                </c:pt>
                <c:pt idx="1">
                  <c:v>2017</c:v>
                </c:pt>
                <c:pt idx="2">
                  <c:v>2018</c:v>
                </c:pt>
                <c:pt idx="3">
                  <c:v>2019</c:v>
                </c:pt>
                <c:pt idx="4">
                  <c:v>2020</c:v>
                </c:pt>
                <c:pt idx="5">
                  <c:v>2021</c:v>
                </c:pt>
                <c:pt idx="6">
                  <c:v>2022</c:v>
                </c:pt>
                <c:pt idx="7">
                  <c:v>2023</c:v>
                </c:pt>
                <c:pt idx="8">
                  <c:v>2024</c:v>
                </c:pt>
              </c:strCache>
            </c:strRef>
          </c:cat>
          <c:val>
            <c:numRef>
              <c:f>Sheet1!$B$2:$B$10</c:f>
              <c:numCache>
                <c:formatCode>General</c:formatCode>
                <c:ptCount val="9"/>
                <c:pt idx="0">
                  <c:v>4090</c:v>
                </c:pt>
                <c:pt idx="1">
                  <c:v>3880</c:v>
                </c:pt>
                <c:pt idx="2">
                  <c:v>3811</c:v>
                </c:pt>
                <c:pt idx="3">
                  <c:v>4255</c:v>
                </c:pt>
                <c:pt idx="4">
                  <c:v>3538</c:v>
                </c:pt>
                <c:pt idx="5">
                  <c:v>3551</c:v>
                </c:pt>
                <c:pt idx="6">
                  <c:v>3945</c:v>
                </c:pt>
                <c:pt idx="7">
                  <c:v>3595</c:v>
                </c:pt>
                <c:pt idx="8">
                  <c:v>3709</c:v>
                </c:pt>
              </c:numCache>
            </c:numRef>
          </c:val>
          <c:smooth val="0"/>
          <c:extLst>
            <c:ext xmlns:c16="http://schemas.microsoft.com/office/drawing/2014/chart" uri="{C3380CC4-5D6E-409C-BE32-E72D297353CC}">
              <c16:uniqueId val="{00000000-F025-4E9C-86E5-52C6B0345CA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lblOffset val="100"/>
        <c:noMultiLvlLbl val="1"/>
      </c:catAx>
      <c:valAx>
        <c:axId val="2094734552"/>
        <c:scaling>
          <c:orientation val="minMax"/>
          <c:max val="4500"/>
          <c:min val="300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Transactions</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3333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Switzerland</c:v>
                </c:pt>
                <c:pt idx="1">
                  <c:v>Australia</c:v>
                </c:pt>
                <c:pt idx="2">
                  <c:v>Canada</c:v>
                </c:pt>
                <c:pt idx="3">
                  <c:v>Denmark</c:v>
                </c:pt>
                <c:pt idx="4">
                  <c:v>Spain</c:v>
                </c:pt>
                <c:pt idx="5">
                  <c:v>United Kingdom</c:v>
                </c:pt>
                <c:pt idx="6">
                  <c:v>France</c:v>
                </c:pt>
                <c:pt idx="7">
                  <c:v>China</c:v>
                </c:pt>
                <c:pt idx="8">
                  <c:v>Germany</c:v>
                </c:pt>
                <c:pt idx="9">
                  <c:v>United States</c:v>
                </c:pt>
              </c:strCache>
            </c:strRef>
          </c:cat>
          <c:val>
            <c:numRef>
              <c:f>Sheet1!$B$2:$B$11</c:f>
              <c:numCache>
                <c:formatCode>General</c:formatCode>
                <c:ptCount val="10"/>
                <c:pt idx="0">
                  <c:v>997</c:v>
                </c:pt>
                <c:pt idx="1">
                  <c:v>1002</c:v>
                </c:pt>
                <c:pt idx="2">
                  <c:v>1081</c:v>
                </c:pt>
                <c:pt idx="3">
                  <c:v>1102</c:v>
                </c:pt>
                <c:pt idx="4">
                  <c:v>1102</c:v>
                </c:pt>
                <c:pt idx="5">
                  <c:v>1114</c:v>
                </c:pt>
                <c:pt idx="6">
                  <c:v>1140</c:v>
                </c:pt>
                <c:pt idx="7">
                  <c:v>1536</c:v>
                </c:pt>
                <c:pt idx="8">
                  <c:v>2193</c:v>
                </c:pt>
                <c:pt idx="9">
                  <c:v>5053</c:v>
                </c:pt>
              </c:numCache>
            </c:numRef>
          </c:val>
          <c:extLst>
            <c:ext xmlns:c16="http://schemas.microsoft.com/office/drawing/2014/chart" uri="{C3380CC4-5D6E-409C-BE32-E72D297353CC}">
              <c16:uniqueId val="{00000000-3738-436D-8E47-C6748032EC8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Transactions</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3333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Walrus</c:v>
                </c:pt>
                <c:pt idx="1">
                  <c:v>Gray wolf</c:v>
                </c:pt>
                <c:pt idx="2">
                  <c:v>Brown bear</c:v>
                </c:pt>
                <c:pt idx="3">
                  <c:v>Chacma baboon</c:v>
                </c:pt>
                <c:pt idx="4">
                  <c:v>Giraffe</c:v>
                </c:pt>
                <c:pt idx="5">
                  <c:v>Hartmann's zebra</c:v>
                </c:pt>
                <c:pt idx="6">
                  <c:v>Hippopotamus</c:v>
                </c:pt>
                <c:pt idx="7">
                  <c:v>Vicuña</c:v>
                </c:pt>
                <c:pt idx="8">
                  <c:v>American black bear</c:v>
                </c:pt>
                <c:pt idx="9">
                  <c:v>African elephant</c:v>
                </c:pt>
              </c:strCache>
            </c:strRef>
          </c:cat>
          <c:val>
            <c:numRef>
              <c:f>Sheet1!$B$2:$B$11</c:f>
              <c:numCache>
                <c:formatCode>General</c:formatCode>
                <c:ptCount val="10"/>
                <c:pt idx="0">
                  <c:v>880</c:v>
                </c:pt>
                <c:pt idx="1">
                  <c:v>968</c:v>
                </c:pt>
                <c:pt idx="2">
                  <c:v>1014</c:v>
                </c:pt>
                <c:pt idx="3">
                  <c:v>1016</c:v>
                </c:pt>
                <c:pt idx="4">
                  <c:v>1031</c:v>
                </c:pt>
                <c:pt idx="5">
                  <c:v>1034</c:v>
                </c:pt>
                <c:pt idx="6">
                  <c:v>1281</c:v>
                </c:pt>
                <c:pt idx="7">
                  <c:v>1455</c:v>
                </c:pt>
                <c:pt idx="8">
                  <c:v>1667</c:v>
                </c:pt>
                <c:pt idx="9">
                  <c:v>2424</c:v>
                </c:pt>
              </c:numCache>
            </c:numRef>
          </c:val>
          <c:extLst>
            <c:ext xmlns:c16="http://schemas.microsoft.com/office/drawing/2014/chart" uri="{C3380CC4-5D6E-409C-BE32-E72D297353CC}">
              <c16:uniqueId val="{00000000-4CDD-45E7-BFCB-16E81264111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Transactions</c:v>
                </c:pt>
              </c:strCache>
            </c:strRef>
          </c:tx>
          <c:spPr>
            <a:solidFill>
              <a:srgbClr val="B85042"/>
            </a:solidFill>
            <a:effectLst/>
          </c:spPr>
          <c:invertIfNegative val="0"/>
          <c:dLbls>
            <c:numFmt formatCode="#,##0" sourceLinked="0"/>
            <c:spPr>
              <a:noFill/>
              <a:ln>
                <a:noFill/>
              </a:ln>
              <a:effectLst/>
            </c:spPr>
            <c:txPr>
              <a:bodyPr/>
              <a:lstStyle/>
              <a:p>
                <a:pPr>
                  <a:defRPr sz="1000" b="0" i="0" u="none" strike="noStrike">
                    <a:solidFill>
                      <a:srgbClr val="3333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Skin pieces</c:v>
                </c:pt>
                <c:pt idx="1">
                  <c:v>Tusks</c:v>
                </c:pt>
                <c:pt idx="2">
                  <c:v>Leather products (S)</c:v>
                </c:pt>
                <c:pt idx="3">
                  <c:v>Garments</c:v>
                </c:pt>
                <c:pt idx="4">
                  <c:v>Bodies</c:v>
                </c:pt>
                <c:pt idx="5">
                  <c:v>Live</c:v>
                </c:pt>
                <c:pt idx="6">
                  <c:v>Skulls</c:v>
                </c:pt>
                <c:pt idx="7">
                  <c:v>Skins</c:v>
                </c:pt>
                <c:pt idx="8">
                  <c:v>Specimens</c:v>
                </c:pt>
                <c:pt idx="9">
                  <c:v>Trophies</c:v>
                </c:pt>
              </c:strCache>
            </c:strRef>
          </c:cat>
          <c:val>
            <c:numRef>
              <c:f>Sheet1!$B$2:$B$11</c:f>
              <c:numCache>
                <c:formatCode>General</c:formatCode>
                <c:ptCount val="10"/>
                <c:pt idx="0">
                  <c:v>764</c:v>
                </c:pt>
                <c:pt idx="1">
                  <c:v>842</c:v>
                </c:pt>
                <c:pt idx="2">
                  <c:v>965</c:v>
                </c:pt>
                <c:pt idx="3">
                  <c:v>1274</c:v>
                </c:pt>
                <c:pt idx="4">
                  <c:v>1290</c:v>
                </c:pt>
                <c:pt idx="5">
                  <c:v>2061</c:v>
                </c:pt>
                <c:pt idx="6">
                  <c:v>2773</c:v>
                </c:pt>
                <c:pt idx="7">
                  <c:v>3456</c:v>
                </c:pt>
                <c:pt idx="8">
                  <c:v>4252</c:v>
                </c:pt>
                <c:pt idx="9">
                  <c:v>9638</c:v>
                </c:pt>
              </c:numCache>
            </c:numRef>
          </c:val>
          <c:extLst>
            <c:ext xmlns:c16="http://schemas.microsoft.com/office/drawing/2014/chart" uri="{C3380CC4-5D6E-409C-BE32-E72D297353CC}">
              <c16:uniqueId val="{00000000-FDA7-47A9-91D0-7B8B9870C2B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Trophy transactions</c:v>
                </c:pt>
              </c:strCache>
            </c:strRef>
          </c:tx>
          <c:spPr>
            <a:solidFill>
              <a:srgbClr val="B85042"/>
            </a:solidFill>
            <a:effectLst/>
          </c:spPr>
          <c:invertIfNegative val="0"/>
          <c:dLbls>
            <c:numFmt formatCode="#,##0" sourceLinked="0"/>
            <c:spPr>
              <a:noFill/>
              <a:ln>
                <a:noFill/>
              </a:ln>
              <a:effectLst/>
            </c:spPr>
            <c:txPr>
              <a:bodyPr/>
              <a:lstStyle/>
              <a:p>
                <a:pPr>
                  <a:defRPr sz="1000" b="0" i="0" u="none" strike="noStrike">
                    <a:solidFill>
                      <a:srgbClr val="3333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African lion</c:v>
                </c:pt>
                <c:pt idx="1">
                  <c:v>Giraffe</c:v>
                </c:pt>
                <c:pt idx="2">
                  <c:v>Caracal</c:v>
                </c:pt>
                <c:pt idx="3">
                  <c:v>Hartmann's zebra</c:v>
                </c:pt>
                <c:pt idx="4">
                  <c:v>Siberian ibex</c:v>
                </c:pt>
                <c:pt idx="5">
                  <c:v>Brown bear</c:v>
                </c:pt>
                <c:pt idx="6">
                  <c:v>Hippopotamus</c:v>
                </c:pt>
                <c:pt idx="7">
                  <c:v>Chacma baboon</c:v>
                </c:pt>
                <c:pt idx="8">
                  <c:v>Leopard</c:v>
                </c:pt>
                <c:pt idx="9">
                  <c:v>African elephant</c:v>
                </c:pt>
              </c:strCache>
            </c:strRef>
          </c:cat>
          <c:val>
            <c:numRef>
              <c:f>Sheet1!$B$2:$B$11</c:f>
              <c:numCache>
                <c:formatCode>General</c:formatCode>
                <c:ptCount val="10"/>
                <c:pt idx="0">
                  <c:v>307</c:v>
                </c:pt>
                <c:pt idx="1">
                  <c:v>342</c:v>
                </c:pt>
                <c:pt idx="2">
                  <c:v>350</c:v>
                </c:pt>
                <c:pt idx="3">
                  <c:v>365</c:v>
                </c:pt>
                <c:pt idx="4">
                  <c:v>366</c:v>
                </c:pt>
                <c:pt idx="5">
                  <c:v>369</c:v>
                </c:pt>
                <c:pt idx="6">
                  <c:v>391</c:v>
                </c:pt>
                <c:pt idx="7">
                  <c:v>417</c:v>
                </c:pt>
                <c:pt idx="8">
                  <c:v>424</c:v>
                </c:pt>
                <c:pt idx="9">
                  <c:v>503</c:v>
                </c:pt>
              </c:numCache>
            </c:numRef>
          </c:val>
          <c:extLst>
            <c:ext xmlns:c16="http://schemas.microsoft.com/office/drawing/2014/chart" uri="{C3380CC4-5D6E-409C-BE32-E72D297353CC}">
              <c16:uniqueId val="{00000000-7C01-4D9E-8DC9-FBD0F7AAEF8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146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I'm going to walk you through an exploratory data analysis of the international legal trade in wild-sourced mammals, using data reported to CITES between 2016 and 2024. The goal was to understand what's actually being traded, by whom, and </a:t>
            </a:r>
            <a:r>
              <a:rPr lang="en-US"/>
              <a:t>how - </a:t>
            </a:r>
            <a:r>
              <a:rPr lang="en-US" dirty="0"/>
              <a:t>and to build a data-driven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238B-E59A-CB20-080A-FA997380B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D38FD-6538-49AB-D79F-F8DC3CD24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9F47B-90D3-1169-02FA-B9A6B1C97FDD}"/>
              </a:ext>
            </a:extLst>
          </p:cNvPr>
          <p:cNvSpPr>
            <a:spLocks noGrp="1"/>
          </p:cNvSpPr>
          <p:nvPr>
            <p:ph type="body" idx="1"/>
          </p:nvPr>
        </p:nvSpPr>
        <p:spPr/>
        <p:txBody>
          <a:bodyPr/>
          <a:lstStyle/>
          <a:p>
            <a:r>
              <a:rPr lang="en-US" dirty="0"/>
              <a:t>So here is our data-driven problem statement, based directly on the five findings we just walked through. Legal wild mammal trade continues at scale, is dominated by wealthy Western demand, targets the world's most iconic species, and is largely driven by hunting tourism rather than commercial or research purposes. This is not a conservation-neutral outcome, and it raises important questions about how the CITES permit system aligns with public expectations for wildlife protection.</a:t>
            </a:r>
          </a:p>
        </p:txBody>
      </p:sp>
      <p:sp>
        <p:nvSpPr>
          <p:cNvPr id="4" name="Slide Number Placeholder 3">
            <a:extLst>
              <a:ext uri="{FF2B5EF4-FFF2-40B4-BE49-F238E27FC236}">
                <a16:creationId xmlns:a16="http://schemas.microsoft.com/office/drawing/2014/main" id="{359DC3DB-AB31-7B58-9447-EB987618B48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759901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CITES is the international treaty that regulates trade in wildlife. We downloaded 9 years of data, filtered to wild-caught mammals only, and looked at net </a:t>
            </a:r>
            <a:r>
              <a:rPr lang="en-US"/>
              <a:t>imports - </a:t>
            </a:r>
            <a:r>
              <a:rPr lang="en-US" dirty="0"/>
              <a:t>meaning the demand side of the trade. After cleaning, we had 34,374 individual trade transactions covering 727 mammal species and 191 importing countries.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cleaning was </a:t>
            </a:r>
            <a:r>
              <a:rPr lang="en-US"/>
              <a:t>straightforward - </a:t>
            </a:r>
            <a:r>
              <a:rPr lang="en-US" dirty="0"/>
              <a:t>drop the empty year columns, drop a handful of rows with missing country codes, and fill in the missing unit values using the standard CITES convention. The one non-obvious decision was to count transactions rather than sum quantities. That's because the quantities are in mixed units, and a few very large single shipments would completely wash out the pattern. Counting transactions gives us a much cleaner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t>
            </a:r>
            <a:r>
              <a:rPr lang="en-US"/>
              <a:t>question - </a:t>
            </a:r>
            <a:r>
              <a:rPr lang="en-US" dirty="0"/>
              <a:t>is legal wild mammal trade shrinking over time? The answer is no. Trade is remarkably steady at around 4,000 transactions per year. There is a small dip in 2020 and 2021 that lines up cleanly with the COVID-19 pandemic, and international travel restrictions. But by 2022 it rebounds. Despite growing conservation awareness, the volume of legal wild mammal trade has not declined.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t>
            </a:r>
            <a:r>
              <a:rPr lang="en-US"/>
              <a:t>question - </a:t>
            </a:r>
            <a:r>
              <a:rPr lang="en-US" dirty="0"/>
              <a:t>where is the demand coming from? The United States is by far the largest importer, with more than 5,000 </a:t>
            </a:r>
            <a:r>
              <a:rPr lang="en-US"/>
              <a:t>transactions - </a:t>
            </a:r>
            <a:r>
              <a:rPr lang="en-US" dirty="0"/>
              <a:t>more than double the second-place country, Germany. Every single one of the top ten importers is a wealthy Western nation, plus China. This is not global </a:t>
            </a:r>
            <a:r>
              <a:rPr lang="en-US"/>
              <a:t>demand - </a:t>
            </a:r>
            <a:r>
              <a:rPr lang="en-US" dirty="0"/>
              <a:t>it's concentrated in a small set of high-income markets.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t>
            </a:r>
            <a:r>
              <a:rPr lang="en-US"/>
              <a:t>question - </a:t>
            </a:r>
            <a:r>
              <a:rPr lang="en-US" dirty="0"/>
              <a:t>which species dominate the trade? The list reads like a wildlife documentary. Number one is the African elephant with over 2,400 transactions. Then black bear, then </a:t>
            </a:r>
            <a:r>
              <a:rPr lang="en-US"/>
              <a:t>vicuña - </a:t>
            </a:r>
            <a:r>
              <a:rPr lang="en-US" dirty="0"/>
              <a:t>a South American animal traded for its wool. Then hippo, zebra, giraffe, baboon, brown bear, gray wolf, walrus. These are the world's most iconic wild mammals, and they're the ones showing up most in legal trade.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key </a:t>
            </a:r>
            <a:r>
              <a:rPr lang="en-US"/>
              <a:t>question - </a:t>
            </a:r>
            <a:r>
              <a:rPr lang="en-US" dirty="0"/>
              <a:t>what form does the trade actually take? Live animals? Skins for clothing? Research samples? The answer is dramatic. Hunting trophies dominate. Almost 10,000 </a:t>
            </a:r>
            <a:r>
              <a:rPr lang="en-US"/>
              <a:t>transactions - </a:t>
            </a:r>
            <a:r>
              <a:rPr lang="en-US" dirty="0"/>
              <a:t>28 percent of all wild mammal trade. Combined with skulls, bodies, and skins, the pattern points overwhelmingly to trophy hunting. This isn't primarily commercial trade or scientific research. It's hunting tourism.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filter the data down to only trophy transactions and look at the top 10 species, we get this list. And it reads like the guest list of an African safari. African elephant, leopard, chacma baboon, hippo, brown bear, Siberian ibex, Hartmann's zebra, caracal, giraffe, and African lion. Three big </a:t>
            </a:r>
            <a:r>
              <a:rPr lang="en-US"/>
              <a:t>cats - </a:t>
            </a:r>
            <a:r>
              <a:rPr lang="en-US" dirty="0"/>
              <a:t>leopard, caracal, and </a:t>
            </a:r>
            <a:r>
              <a:rPr lang="en-US"/>
              <a:t>lion - </a:t>
            </a:r>
            <a:r>
              <a:rPr lang="en-US" dirty="0"/>
              <a:t>appear in the top 10. These are the same iconic species that appear on conservation posters. And this is legal </a:t>
            </a:r>
            <a:r>
              <a:rPr lang="en-US"/>
              <a:t>trade - </a:t>
            </a:r>
            <a:r>
              <a:rPr lang="en-US" dirty="0"/>
              <a:t>every one of these transactions had a CITES permit.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data-quality moment worth sharing. While cleaning the data we found a massive spike in </a:t>
            </a:r>
            <a:r>
              <a:rPr lang="en-US"/>
              <a:t>2019 - </a:t>
            </a:r>
            <a:r>
              <a:rPr lang="en-US" dirty="0"/>
              <a:t>360 million specimens of one monkey species reportedly imported by Egypt, Algeria, and Russia. Investigating showed that this is the African green monkey, whose cells are used in vaccine </a:t>
            </a:r>
            <a:r>
              <a:rPr lang="en-US"/>
              <a:t>manufacturing - </a:t>
            </a:r>
            <a:r>
              <a:rPr lang="en-US" dirty="0"/>
              <a:t>so these were biological research samples, not live animals. But the lesson is important. One reporting entry can completely dominate the totals if you're not careful. It's why we chose to count transactions throughout this analysis rather than summing raw quantities.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our data-driven problem statement, based directly on the five findings we just walked through. Legal wild mammal trade continues at scale, is dominated by wealthy Western demand, targets the world's most iconic species, and is largely driven by hunting tourism rather than commercial or research purposes. This is not a conservation-neutral outcome, and it raises important questions about how the CITES permit system aligns with public expectations for wildlife protection.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640080" y="1005840"/>
            <a:ext cx="10972800" cy="3200400"/>
          </a:xfrm>
          <a:prstGeom prst="rect">
            <a:avLst/>
          </a:prstGeom>
          <a:noFill/>
          <a:ln/>
        </p:spPr>
        <p:txBody>
          <a:bodyPr wrap="square" rtlCol="0" anchor="ctr"/>
          <a:lstStyle/>
          <a:p>
            <a:pPr marL="0" indent="0">
              <a:lnSpc>
                <a:spcPct val="100000"/>
              </a:lnSpc>
              <a:buNone/>
            </a:pPr>
            <a:r>
              <a:rPr lang="en-US" sz="6600" b="1" dirty="0">
                <a:solidFill>
                  <a:srgbClr val="FFFFFF"/>
                </a:solidFill>
                <a:latin typeface="Cambria" pitchFamily="34" charset="0"/>
                <a:ea typeface="Cambria" pitchFamily="34" charset="-122"/>
                <a:cs typeface="Cambria" pitchFamily="34" charset="-120"/>
              </a:rPr>
              <a:t>CITES</a:t>
            </a:r>
            <a:endParaRPr lang="en-US" sz="6600" dirty="0"/>
          </a:p>
          <a:p>
            <a:pPr marL="0" indent="0">
              <a:lnSpc>
                <a:spcPct val="100000"/>
              </a:lnSpc>
              <a:buNone/>
            </a:pPr>
            <a:r>
              <a:rPr lang="en-US" sz="6600" b="1" dirty="0">
                <a:solidFill>
                  <a:srgbClr val="FFFFFF"/>
                </a:solidFill>
                <a:latin typeface="Cambria" pitchFamily="34" charset="0"/>
                <a:ea typeface="Cambria" pitchFamily="34" charset="-122"/>
                <a:cs typeface="Cambria" pitchFamily="34" charset="-120"/>
              </a:rPr>
              <a:t>Wild-Sourced</a:t>
            </a:r>
            <a:endParaRPr lang="en-US" sz="6600" dirty="0"/>
          </a:p>
          <a:p>
            <a:pPr marL="0" indent="0">
              <a:lnSpc>
                <a:spcPct val="100000"/>
              </a:lnSpc>
              <a:buNone/>
            </a:pPr>
            <a:r>
              <a:rPr lang="en-US" sz="6600" b="1" dirty="0">
                <a:solidFill>
                  <a:srgbClr val="FFFFFF"/>
                </a:solidFill>
                <a:latin typeface="Cambria" pitchFamily="34" charset="0"/>
                <a:ea typeface="Cambria" pitchFamily="34" charset="-122"/>
                <a:cs typeface="Cambria" pitchFamily="34" charset="-120"/>
              </a:rPr>
              <a:t>Mammal Trade</a:t>
            </a:r>
            <a:endParaRPr lang="en-US" sz="6600" dirty="0"/>
          </a:p>
        </p:txBody>
      </p:sp>
      <p:sp>
        <p:nvSpPr>
          <p:cNvPr id="3" name="Text 1"/>
          <p:cNvSpPr/>
          <p:nvPr/>
        </p:nvSpPr>
        <p:spPr>
          <a:xfrm>
            <a:off x="640080" y="4297680"/>
            <a:ext cx="10972800" cy="548640"/>
          </a:xfrm>
          <a:prstGeom prst="rect">
            <a:avLst/>
          </a:prstGeom>
          <a:noFill/>
          <a:ln/>
        </p:spPr>
        <p:txBody>
          <a:bodyPr wrap="square" rtlCol="0" anchor="ctr"/>
          <a:lstStyle/>
          <a:p>
            <a:pPr marL="0" indent="0">
              <a:buNone/>
            </a:pPr>
            <a:r>
              <a:rPr lang="en-US" sz="2200" i="1" dirty="0">
                <a:solidFill>
                  <a:srgbClr val="97BC62"/>
                </a:solidFill>
                <a:latin typeface="Calibri" pitchFamily="34" charset="0"/>
                <a:ea typeface="Calibri" pitchFamily="34" charset="-122"/>
                <a:cs typeface="Calibri" pitchFamily="34" charset="-120"/>
              </a:rPr>
              <a:t>An Exploratory Data Analysis, 2016 – 2024</a:t>
            </a:r>
            <a:endParaRPr lang="en-US" sz="2200" dirty="0"/>
          </a:p>
        </p:txBody>
      </p:sp>
      <p:sp>
        <p:nvSpPr>
          <p:cNvPr id="4" name="Shape 2"/>
          <p:cNvSpPr/>
          <p:nvPr/>
        </p:nvSpPr>
        <p:spPr>
          <a:xfrm>
            <a:off x="685800" y="5852160"/>
            <a:ext cx="137160" cy="137160"/>
          </a:xfrm>
          <a:prstGeom prst="ellipse">
            <a:avLst/>
          </a:prstGeom>
          <a:solidFill>
            <a:srgbClr val="97BC62"/>
          </a:solidFill>
          <a:ln w="12700">
            <a:solidFill>
              <a:srgbClr val="97BC62"/>
            </a:solidFill>
            <a:prstDash val="solid"/>
          </a:ln>
        </p:spPr>
        <p:txBody>
          <a:bodyPr/>
          <a:lstStyle/>
          <a:p>
            <a:endParaRPr lang="en-US"/>
          </a:p>
        </p:txBody>
      </p:sp>
      <p:sp>
        <p:nvSpPr>
          <p:cNvPr id="5" name="Text 3"/>
          <p:cNvSpPr/>
          <p:nvPr/>
        </p:nvSpPr>
        <p:spPr>
          <a:xfrm>
            <a:off x="960120" y="5760720"/>
            <a:ext cx="10058400" cy="365760"/>
          </a:xfrm>
          <a:prstGeom prst="rect">
            <a:avLst/>
          </a:prstGeom>
          <a:noFill/>
          <a:ln/>
        </p:spPr>
        <p:txBody>
          <a:bodyPr wrap="square" rtlCol="0" anchor="ctr"/>
          <a:lstStyle/>
          <a:p>
            <a:pPr marL="0" indent="0">
              <a:buNone/>
            </a:pPr>
            <a:r>
              <a:rPr lang="en-US" sz="1400" dirty="0">
                <a:solidFill>
                  <a:srgbClr val="F5F5F5"/>
                </a:solidFill>
                <a:latin typeface="Calibri" pitchFamily="34" charset="0"/>
                <a:ea typeface="Calibri" pitchFamily="34" charset="-122"/>
                <a:cs typeface="Calibri" pitchFamily="34" charset="-120"/>
              </a:rPr>
              <a:t>Ebrahim Maki  ·  General Assembly Data Science Bootcamp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5F2D"/>
        </a:solidFill>
        <a:effectLst/>
      </p:bgPr>
    </p:bg>
    <p:spTree>
      <p:nvGrpSpPr>
        <p:cNvPr id="1" name="">
          <a:extLst>
            <a:ext uri="{FF2B5EF4-FFF2-40B4-BE49-F238E27FC236}">
              <a16:creationId xmlns:a16="http://schemas.microsoft.com/office/drawing/2014/main" id="{62BEEB8B-D2EE-B517-1AC2-CB4A995C74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9B27BD-2032-F08C-ED26-6BA76AC6AED4}"/>
              </a:ext>
            </a:extLst>
          </p:cNvPr>
          <p:cNvSpPr/>
          <p:nvPr/>
        </p:nvSpPr>
        <p:spPr>
          <a:xfrm>
            <a:off x="640080" y="457200"/>
            <a:ext cx="1097280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Problem Statement</a:t>
            </a:r>
            <a:endParaRPr lang="en-US" sz="3600" dirty="0"/>
          </a:p>
        </p:txBody>
      </p:sp>
      <p:sp>
        <p:nvSpPr>
          <p:cNvPr id="3" name="Text 1">
            <a:extLst>
              <a:ext uri="{FF2B5EF4-FFF2-40B4-BE49-F238E27FC236}">
                <a16:creationId xmlns:a16="http://schemas.microsoft.com/office/drawing/2014/main" id="{16141FB7-23F3-E1CF-5844-1D6544A51F59}"/>
              </a:ext>
            </a:extLst>
          </p:cNvPr>
          <p:cNvSpPr/>
          <p:nvPr/>
        </p:nvSpPr>
        <p:spPr>
          <a:xfrm>
            <a:off x="640080" y="1188720"/>
            <a:ext cx="10972800" cy="365760"/>
          </a:xfrm>
          <a:prstGeom prst="rect">
            <a:avLst/>
          </a:prstGeom>
          <a:noFill/>
          <a:ln/>
        </p:spPr>
        <p:txBody>
          <a:bodyPr wrap="square" rtlCol="0" anchor="ctr"/>
          <a:lstStyle/>
          <a:p>
            <a:pPr marL="0" indent="0">
              <a:buNone/>
            </a:pPr>
            <a:r>
              <a:rPr lang="en-US" sz="1600" i="1" dirty="0">
                <a:solidFill>
                  <a:srgbClr val="97BC62"/>
                </a:solidFill>
                <a:latin typeface="Calibri" pitchFamily="34" charset="0"/>
                <a:ea typeface="Calibri" pitchFamily="34" charset="-122"/>
                <a:cs typeface="Calibri" pitchFamily="34" charset="-120"/>
              </a:rPr>
              <a:t>Data-driven conclusion from our EDA</a:t>
            </a:r>
            <a:endParaRPr lang="en-US" sz="1600" dirty="0"/>
          </a:p>
        </p:txBody>
      </p:sp>
      <p:sp>
        <p:nvSpPr>
          <p:cNvPr id="4" name="Text 2">
            <a:extLst>
              <a:ext uri="{FF2B5EF4-FFF2-40B4-BE49-F238E27FC236}">
                <a16:creationId xmlns:a16="http://schemas.microsoft.com/office/drawing/2014/main" id="{97B78ED7-9D9E-F0C5-095E-3D5C695C67F8}"/>
              </a:ext>
            </a:extLst>
          </p:cNvPr>
          <p:cNvSpPr/>
          <p:nvPr/>
        </p:nvSpPr>
        <p:spPr>
          <a:xfrm>
            <a:off x="640080" y="1737360"/>
            <a:ext cx="1371600" cy="1371600"/>
          </a:xfrm>
          <a:prstGeom prst="rect">
            <a:avLst/>
          </a:prstGeom>
          <a:noFill/>
          <a:ln/>
        </p:spPr>
        <p:txBody>
          <a:bodyPr wrap="square" rtlCol="0" anchor="ctr"/>
          <a:lstStyle/>
          <a:p>
            <a:pPr marL="0" indent="0">
              <a:buNone/>
            </a:pPr>
            <a:r>
              <a:rPr lang="en-US" sz="12000" b="1" dirty="0">
                <a:solidFill>
                  <a:srgbClr val="97BC62"/>
                </a:solidFill>
                <a:latin typeface="Cambria" pitchFamily="34" charset="0"/>
                <a:ea typeface="Cambria" pitchFamily="34" charset="-122"/>
                <a:cs typeface="Cambria" pitchFamily="34" charset="-120"/>
              </a:rPr>
              <a:t>“</a:t>
            </a:r>
            <a:endParaRPr lang="en-US" sz="12000" dirty="0"/>
          </a:p>
        </p:txBody>
      </p:sp>
      <p:sp>
        <p:nvSpPr>
          <p:cNvPr id="5" name="Text 3">
            <a:extLst>
              <a:ext uri="{FF2B5EF4-FFF2-40B4-BE49-F238E27FC236}">
                <a16:creationId xmlns:a16="http://schemas.microsoft.com/office/drawing/2014/main" id="{DA3F70C9-F467-0D00-21B6-A2222AAEADE9}"/>
              </a:ext>
            </a:extLst>
          </p:cNvPr>
          <p:cNvSpPr/>
          <p:nvPr/>
        </p:nvSpPr>
        <p:spPr>
          <a:xfrm>
            <a:off x="2103120" y="2560320"/>
            <a:ext cx="9418320" cy="3200400"/>
          </a:xfrm>
          <a:prstGeom prst="rect">
            <a:avLst/>
          </a:prstGeom>
          <a:noFill/>
          <a:ln/>
        </p:spPr>
        <p:txBody>
          <a:bodyPr wrap="square" rtlCol="0" anchor="t"/>
          <a:lstStyle/>
          <a:p>
            <a:pPr marL="0" indent="0">
              <a:lnSpc>
                <a:spcPct val="130000"/>
              </a:lnSpc>
              <a:spcAft>
                <a:spcPts val="600"/>
              </a:spcAft>
              <a:buNone/>
            </a:pPr>
            <a:r>
              <a:rPr lang="en-US" sz="3200" i="1" dirty="0">
                <a:solidFill>
                  <a:srgbClr val="FFFFFF"/>
                </a:solidFill>
                <a:latin typeface="Calibri" pitchFamily="34" charset="0"/>
                <a:ea typeface="Calibri" pitchFamily="34" charset="-122"/>
                <a:cs typeface="Calibri" pitchFamily="34" charset="-120"/>
              </a:rPr>
              <a:t>Legal wild-mammal trade is steady, concentrated in wealthy Western demand, and dominated by hunting trophies of iconic species - elephants, leopards, and lions.</a:t>
            </a:r>
            <a:endParaRPr lang="en-US" sz="3200" dirty="0"/>
          </a:p>
        </p:txBody>
      </p:sp>
    </p:spTree>
    <p:extLst>
      <p:ext uri="{BB962C8B-B14F-4D97-AF65-F5344CB8AC3E}">
        <p14:creationId xmlns:p14="http://schemas.microsoft.com/office/powerpoint/2010/main" val="1944672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600" b="1" dirty="0">
                <a:solidFill>
                  <a:srgbClr val="2C5F2D"/>
                </a:solidFill>
                <a:latin typeface="Cambria" pitchFamily="34" charset="0"/>
                <a:ea typeface="Cambria" pitchFamily="34" charset="-122"/>
                <a:cs typeface="Cambria" pitchFamily="34" charset="-120"/>
              </a:rPr>
              <a:t>About the Data</a:t>
            </a:r>
            <a:endParaRPr lang="en-US" sz="3600" dirty="0"/>
          </a:p>
        </p:txBody>
      </p:sp>
      <p:sp>
        <p:nvSpPr>
          <p:cNvPr id="3" name="Text 1"/>
          <p:cNvSpPr/>
          <p:nvPr/>
        </p:nvSpPr>
        <p:spPr>
          <a:xfrm>
            <a:off x="457200" y="1371600"/>
            <a:ext cx="5486400" cy="457200"/>
          </a:xfrm>
          <a:prstGeom prst="rect">
            <a:avLst/>
          </a:prstGeom>
          <a:noFill/>
          <a:ln/>
        </p:spPr>
        <p:txBody>
          <a:bodyPr wrap="square" lIns="0" tIns="0" rIns="0" bIns="0" rtlCol="0" anchor="ctr"/>
          <a:lstStyle/>
          <a:p>
            <a:pPr marL="0" indent="0">
              <a:buNone/>
            </a:pPr>
            <a:r>
              <a:rPr lang="en-US" sz="2200" b="1" dirty="0">
                <a:solidFill>
                  <a:srgbClr val="2C5F2D"/>
                </a:solidFill>
                <a:latin typeface="Calibri" pitchFamily="34" charset="0"/>
                <a:ea typeface="Calibri" pitchFamily="34" charset="-122"/>
                <a:cs typeface="Calibri" pitchFamily="34" charset="-120"/>
              </a:rPr>
              <a:t>What is CITES?</a:t>
            </a:r>
            <a:endParaRPr lang="en-US" sz="2200" dirty="0"/>
          </a:p>
        </p:txBody>
      </p:sp>
      <p:sp>
        <p:nvSpPr>
          <p:cNvPr id="4" name="Text 2"/>
          <p:cNvSpPr/>
          <p:nvPr/>
        </p:nvSpPr>
        <p:spPr>
          <a:xfrm>
            <a:off x="457200" y="1920240"/>
            <a:ext cx="5486400" cy="2011680"/>
          </a:xfrm>
          <a:prstGeom prst="rect">
            <a:avLst/>
          </a:prstGeom>
          <a:noFill/>
          <a:ln/>
        </p:spPr>
        <p:txBody>
          <a:bodyPr wrap="square" rtlCol="0" anchor="t"/>
          <a:lstStyle/>
          <a:p>
            <a:pPr marL="0" indent="0">
              <a:spcAft>
                <a:spcPts val="600"/>
              </a:spcAft>
              <a:buNone/>
            </a:pPr>
            <a:r>
              <a:rPr lang="en-US" sz="1600" dirty="0">
                <a:solidFill>
                  <a:srgbClr val="333333"/>
                </a:solidFill>
                <a:latin typeface="Calibri" pitchFamily="34" charset="0"/>
                <a:ea typeface="Calibri" pitchFamily="34" charset="-122"/>
                <a:cs typeface="Calibri" pitchFamily="34" charset="-120"/>
              </a:rPr>
              <a:t>Convention on International Trade in Endangered Species of Wild Fauna and Flora - a global treaty that regulates the international trade of over 40,000 species to ensure it does not threaten their survival in the wild.</a:t>
            </a:r>
            <a:endParaRPr lang="en-US" sz="1600" dirty="0"/>
          </a:p>
        </p:txBody>
      </p:sp>
      <p:sp>
        <p:nvSpPr>
          <p:cNvPr id="5" name="Text 3"/>
          <p:cNvSpPr/>
          <p:nvPr/>
        </p:nvSpPr>
        <p:spPr>
          <a:xfrm>
            <a:off x="457200" y="3931920"/>
            <a:ext cx="5486400" cy="1371600"/>
          </a:xfrm>
          <a:prstGeom prst="rect">
            <a:avLst/>
          </a:prstGeom>
          <a:noFill/>
          <a:ln/>
        </p:spPr>
        <p:txBody>
          <a:bodyPr wrap="square"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Species are listed on one of three Appendices, with Appendix I being the strictest (species threatened with extinction).</a:t>
            </a:r>
            <a:endParaRPr lang="en-US" sz="1400" dirty="0"/>
          </a:p>
        </p:txBody>
      </p:sp>
      <p:sp>
        <p:nvSpPr>
          <p:cNvPr id="6" name="Shape 4"/>
          <p:cNvSpPr/>
          <p:nvPr/>
        </p:nvSpPr>
        <p:spPr>
          <a:xfrm>
            <a:off x="6400800" y="1371600"/>
            <a:ext cx="5303520" cy="4297680"/>
          </a:xfrm>
          <a:prstGeom prst="roundRect">
            <a:avLst>
              <a:gd name="adj" fmla="val 2128"/>
            </a:avLst>
          </a:prstGeom>
          <a:solidFill>
            <a:srgbClr val="F0F5EC"/>
          </a:solidFill>
          <a:ln w="12700">
            <a:solidFill>
              <a:srgbClr val="F0F5EC"/>
            </a:solidFill>
            <a:prstDash val="solid"/>
          </a:ln>
        </p:spPr>
        <p:txBody>
          <a:bodyPr/>
          <a:lstStyle/>
          <a:p>
            <a:endParaRPr lang="en-US"/>
          </a:p>
        </p:txBody>
      </p:sp>
      <p:sp>
        <p:nvSpPr>
          <p:cNvPr id="7" name="Text 5"/>
          <p:cNvSpPr/>
          <p:nvPr/>
        </p:nvSpPr>
        <p:spPr>
          <a:xfrm>
            <a:off x="6675120" y="1554480"/>
            <a:ext cx="4937760" cy="365760"/>
          </a:xfrm>
          <a:prstGeom prst="rect">
            <a:avLst/>
          </a:prstGeom>
          <a:noFill/>
          <a:ln/>
        </p:spPr>
        <p:txBody>
          <a:bodyPr wrap="square" lIns="0" tIns="0" rIns="0" bIns="0" rtlCol="0" anchor="ctr"/>
          <a:lstStyle/>
          <a:p>
            <a:pPr marL="0" indent="0">
              <a:buNone/>
            </a:pPr>
            <a:r>
              <a:rPr lang="en-US" sz="1800" b="1" dirty="0">
                <a:solidFill>
                  <a:srgbClr val="2C5F2D"/>
                </a:solidFill>
                <a:latin typeface="Calibri" pitchFamily="34" charset="0"/>
                <a:ea typeface="Calibri" pitchFamily="34" charset="-122"/>
                <a:cs typeface="Calibri" pitchFamily="34" charset="-120"/>
              </a:rPr>
              <a:t>Filters applied</a:t>
            </a:r>
            <a:endParaRPr lang="en-US" sz="1800" dirty="0"/>
          </a:p>
        </p:txBody>
      </p:sp>
      <p:sp>
        <p:nvSpPr>
          <p:cNvPr id="8" name="Text 6"/>
          <p:cNvSpPr/>
          <p:nvPr/>
        </p:nvSpPr>
        <p:spPr>
          <a:xfrm>
            <a:off x="6675120" y="2103120"/>
            <a:ext cx="4937760" cy="3291840"/>
          </a:xfrm>
          <a:prstGeom prst="rect">
            <a:avLst/>
          </a:prstGeom>
          <a:noFill/>
          <a:ln/>
        </p:spPr>
        <p:txBody>
          <a:bodyPr wrap="square" rtlCol="0" anchor="t"/>
          <a:lstStyle/>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Trade type: </a:t>
            </a:r>
            <a:r>
              <a:rPr lang="en-US" sz="1500" dirty="0">
                <a:solidFill>
                  <a:srgbClr val="333333"/>
                </a:solidFill>
                <a:latin typeface="Calibri" pitchFamily="34" charset="0"/>
                <a:ea typeface="Calibri" pitchFamily="34" charset="-122"/>
                <a:cs typeface="Calibri" pitchFamily="34" charset="-120"/>
              </a:rPr>
              <a:t>Net imports</a:t>
            </a:r>
            <a:endParaRPr lang="en-US" sz="1500" dirty="0"/>
          </a:p>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Kingdom: </a:t>
            </a:r>
            <a:r>
              <a:rPr lang="en-US" sz="1500" dirty="0">
                <a:solidFill>
                  <a:srgbClr val="333333"/>
                </a:solidFill>
                <a:latin typeface="Calibri" pitchFamily="34" charset="0"/>
                <a:ea typeface="Calibri" pitchFamily="34" charset="-122"/>
                <a:cs typeface="Calibri" pitchFamily="34" charset="-120"/>
              </a:rPr>
              <a:t>Animalia</a:t>
            </a:r>
            <a:endParaRPr lang="en-US" sz="1500" dirty="0"/>
          </a:p>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Class: </a:t>
            </a:r>
            <a:r>
              <a:rPr lang="en-US" sz="1500" dirty="0">
                <a:solidFill>
                  <a:srgbClr val="333333"/>
                </a:solidFill>
                <a:latin typeface="Calibri" pitchFamily="34" charset="0"/>
                <a:ea typeface="Calibri" pitchFamily="34" charset="-122"/>
                <a:cs typeface="Calibri" pitchFamily="34" charset="-120"/>
              </a:rPr>
              <a:t>Mammalia</a:t>
            </a:r>
            <a:endParaRPr lang="en-US" sz="1500" dirty="0"/>
          </a:p>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Source: </a:t>
            </a:r>
            <a:r>
              <a:rPr lang="en-US" sz="1500" dirty="0">
                <a:solidFill>
                  <a:srgbClr val="333333"/>
                </a:solidFill>
                <a:latin typeface="Calibri" pitchFamily="34" charset="0"/>
                <a:ea typeface="Calibri" pitchFamily="34" charset="-122"/>
                <a:cs typeface="Calibri" pitchFamily="34" charset="-120"/>
              </a:rPr>
              <a:t>W (wild-caught only)</a:t>
            </a:r>
            <a:endParaRPr lang="en-US" sz="1500" dirty="0"/>
          </a:p>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Years: </a:t>
            </a:r>
            <a:r>
              <a:rPr lang="en-US" sz="1500" dirty="0">
                <a:solidFill>
                  <a:srgbClr val="333333"/>
                </a:solidFill>
                <a:latin typeface="Calibri" pitchFamily="34" charset="0"/>
                <a:ea typeface="Calibri" pitchFamily="34" charset="-122"/>
                <a:cs typeface="Calibri" pitchFamily="34" charset="-120"/>
              </a:rPr>
              <a:t>2016 – 2024 (9 years)</a:t>
            </a:r>
            <a:endParaRPr lang="en-US" sz="1500" dirty="0"/>
          </a:p>
          <a:p>
            <a:pPr marL="0" indent="0">
              <a:spcAft>
                <a:spcPts val="800"/>
              </a:spcAft>
              <a:buNone/>
            </a:pPr>
            <a:r>
              <a:rPr lang="en-US" sz="600" dirty="0">
                <a:solidFill>
                  <a:srgbClr val="333333"/>
                </a:solidFill>
                <a:latin typeface="Calibri" pitchFamily="34" charset="0"/>
                <a:ea typeface="Calibri" pitchFamily="34" charset="-122"/>
                <a:cs typeface="Calibri" pitchFamily="34" charset="-120"/>
              </a:rPr>
              <a:t> </a:t>
            </a:r>
            <a:endParaRPr lang="en-US" sz="1500" dirty="0"/>
          </a:p>
          <a:p>
            <a:pPr marL="0" indent="0">
              <a:spcAft>
                <a:spcPts val="800"/>
              </a:spcAft>
              <a:buNone/>
            </a:pPr>
            <a:r>
              <a:rPr lang="en-US" sz="1500" b="1" dirty="0">
                <a:solidFill>
                  <a:srgbClr val="333333"/>
                </a:solidFill>
                <a:latin typeface="Calibri" pitchFamily="34" charset="0"/>
                <a:ea typeface="Calibri" pitchFamily="34" charset="-122"/>
                <a:cs typeface="Calibri" pitchFamily="34" charset="-120"/>
              </a:rPr>
              <a:t>After cleaning: </a:t>
            </a:r>
            <a:r>
              <a:rPr lang="en-US" sz="1500" dirty="0">
                <a:solidFill>
                  <a:srgbClr val="333333"/>
                </a:solidFill>
                <a:latin typeface="Calibri" pitchFamily="34" charset="0"/>
                <a:ea typeface="Calibri" pitchFamily="34" charset="-122"/>
                <a:cs typeface="Calibri" pitchFamily="34" charset="-120"/>
              </a:rPr>
              <a:t>34,374 transactions</a:t>
            </a:r>
            <a:endParaRPr lang="en-US" sz="1500" dirty="0"/>
          </a:p>
        </p:txBody>
      </p:sp>
      <p:sp>
        <p:nvSpPr>
          <p:cNvPr id="9" name="Text 7"/>
          <p:cNvSpPr/>
          <p:nvPr/>
        </p:nvSpPr>
        <p:spPr>
          <a:xfrm>
            <a:off x="457200" y="5760720"/>
            <a:ext cx="1828800" cy="731520"/>
          </a:xfrm>
          <a:prstGeom prst="rect">
            <a:avLst/>
          </a:prstGeom>
          <a:noFill/>
          <a:ln/>
        </p:spPr>
        <p:txBody>
          <a:bodyPr wrap="square" rtlCol="0" anchor="ctr"/>
          <a:lstStyle/>
          <a:p>
            <a:pPr marL="0" indent="0">
              <a:buNone/>
            </a:pPr>
            <a:r>
              <a:rPr lang="en-US" sz="3600" b="1" dirty="0">
                <a:solidFill>
                  <a:srgbClr val="2C5F2D"/>
                </a:solidFill>
                <a:latin typeface="Cambria" pitchFamily="34" charset="0"/>
                <a:ea typeface="Cambria" pitchFamily="34" charset="-122"/>
                <a:cs typeface="Cambria" pitchFamily="34" charset="-120"/>
              </a:rPr>
              <a:t>727</a:t>
            </a:r>
            <a:endParaRPr lang="en-US" sz="3600" dirty="0"/>
          </a:p>
        </p:txBody>
      </p:sp>
      <p:sp>
        <p:nvSpPr>
          <p:cNvPr id="10" name="Text 8"/>
          <p:cNvSpPr/>
          <p:nvPr/>
        </p:nvSpPr>
        <p:spPr>
          <a:xfrm>
            <a:off x="2286000" y="5989320"/>
            <a:ext cx="146304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species</a:t>
            </a:r>
            <a:endParaRPr lang="en-US" sz="1400" dirty="0"/>
          </a:p>
        </p:txBody>
      </p:sp>
      <p:sp>
        <p:nvSpPr>
          <p:cNvPr id="11" name="Text 9"/>
          <p:cNvSpPr/>
          <p:nvPr/>
        </p:nvSpPr>
        <p:spPr>
          <a:xfrm>
            <a:off x="4114800" y="5760720"/>
            <a:ext cx="1828800" cy="731520"/>
          </a:xfrm>
          <a:prstGeom prst="rect">
            <a:avLst/>
          </a:prstGeom>
          <a:noFill/>
          <a:ln/>
        </p:spPr>
        <p:txBody>
          <a:bodyPr wrap="square" rtlCol="0" anchor="ctr"/>
          <a:lstStyle/>
          <a:p>
            <a:pPr marL="0" indent="0">
              <a:buNone/>
            </a:pPr>
            <a:r>
              <a:rPr lang="en-US" sz="3600" b="1" dirty="0">
                <a:solidFill>
                  <a:srgbClr val="2C5F2D"/>
                </a:solidFill>
                <a:latin typeface="Cambria" pitchFamily="34" charset="0"/>
                <a:ea typeface="Cambria" pitchFamily="34" charset="-122"/>
                <a:cs typeface="Cambria" pitchFamily="34" charset="-120"/>
              </a:rPr>
              <a:t>191</a:t>
            </a:r>
            <a:endParaRPr lang="en-US" sz="3600" dirty="0"/>
          </a:p>
        </p:txBody>
      </p:sp>
      <p:sp>
        <p:nvSpPr>
          <p:cNvPr id="12" name="Text 10"/>
          <p:cNvSpPr/>
          <p:nvPr/>
        </p:nvSpPr>
        <p:spPr>
          <a:xfrm>
            <a:off x="5760720" y="5989320"/>
            <a:ext cx="2743200" cy="365760"/>
          </a:xfrm>
          <a:prstGeom prst="rect">
            <a:avLst/>
          </a:prstGeom>
          <a:noFill/>
          <a:ln/>
        </p:spPr>
        <p:txBody>
          <a:bodyPr wrap="square" rtlCol="0" anchor="ctr"/>
          <a:lstStyle/>
          <a:p>
            <a:pPr marL="0" indent="0">
              <a:buNone/>
            </a:pPr>
            <a:r>
              <a:rPr lang="en-US" sz="1400" dirty="0">
                <a:solidFill>
                  <a:srgbClr val="6B7280"/>
                </a:solidFill>
                <a:latin typeface="Calibri" pitchFamily="34" charset="0"/>
                <a:ea typeface="Calibri" pitchFamily="34" charset="-122"/>
                <a:cs typeface="Calibri" pitchFamily="34" charset="-120"/>
              </a:rPr>
              <a:t>importing countries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600" b="1" dirty="0">
                <a:solidFill>
                  <a:srgbClr val="2C5F2D"/>
                </a:solidFill>
                <a:latin typeface="Cambria" pitchFamily="34" charset="0"/>
                <a:ea typeface="Cambria" pitchFamily="34" charset="-122"/>
                <a:cs typeface="Cambria" pitchFamily="34" charset="-120"/>
              </a:rPr>
              <a:t>Our Approach</a:t>
            </a:r>
            <a:endParaRPr lang="en-US" sz="3600" dirty="0"/>
          </a:p>
        </p:txBody>
      </p:sp>
      <p:sp>
        <p:nvSpPr>
          <p:cNvPr id="3" name="Text 1"/>
          <p:cNvSpPr/>
          <p:nvPr/>
        </p:nvSpPr>
        <p:spPr>
          <a:xfrm>
            <a:off x="457200" y="1371600"/>
            <a:ext cx="5486400" cy="457200"/>
          </a:xfrm>
          <a:prstGeom prst="rect">
            <a:avLst/>
          </a:prstGeom>
          <a:noFill/>
          <a:ln/>
        </p:spPr>
        <p:txBody>
          <a:bodyPr wrap="square" lIns="0" tIns="0" rIns="0" bIns="0" rtlCol="0" anchor="ctr"/>
          <a:lstStyle/>
          <a:p>
            <a:pPr marL="0" indent="0">
              <a:buNone/>
            </a:pPr>
            <a:r>
              <a:rPr lang="en-US" sz="2200" b="1" dirty="0">
                <a:solidFill>
                  <a:srgbClr val="2C5F2D"/>
                </a:solidFill>
                <a:latin typeface="Calibri" pitchFamily="34" charset="0"/>
                <a:ea typeface="Calibri" pitchFamily="34" charset="-122"/>
                <a:cs typeface="Calibri" pitchFamily="34" charset="-120"/>
              </a:rPr>
              <a:t>Data cleaning</a:t>
            </a:r>
            <a:endParaRPr lang="en-US" sz="2200" dirty="0"/>
          </a:p>
        </p:txBody>
      </p:sp>
      <p:sp>
        <p:nvSpPr>
          <p:cNvPr id="4" name="Text 2"/>
          <p:cNvSpPr/>
          <p:nvPr/>
        </p:nvSpPr>
        <p:spPr>
          <a:xfrm>
            <a:off x="457200" y="1920240"/>
            <a:ext cx="5486400" cy="3200400"/>
          </a:xfrm>
          <a:prstGeom prst="rect">
            <a:avLst/>
          </a:prstGeom>
          <a:noFill/>
          <a:ln/>
        </p:spPr>
        <p:txBody>
          <a:bodyPr wrap="square" rtlCol="0" anchor="t"/>
          <a:lstStyle/>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Dropped empty years (2025, 2026)</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Dropped 70 rows with missing country</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Filled missing unit with the CITES-standard "Number of specimens"</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Reshaped from wide (year-columns) to long format</a:t>
            </a:r>
            <a:endParaRPr lang="en-US" sz="1500" dirty="0"/>
          </a:p>
          <a:p>
            <a:pPr marL="342900" indent="-342900">
              <a:spcAft>
                <a:spcPts val="800"/>
              </a:spcAft>
              <a:buSzPct val="100000"/>
              <a:buChar char="•"/>
            </a:pPr>
            <a:r>
              <a:rPr lang="en-US" sz="1500" b="1" dirty="0">
                <a:solidFill>
                  <a:srgbClr val="333333"/>
                </a:solidFill>
                <a:latin typeface="Calibri" pitchFamily="34" charset="0"/>
                <a:ea typeface="Calibri" pitchFamily="34" charset="-122"/>
                <a:cs typeface="Calibri" pitchFamily="34" charset="-120"/>
              </a:rPr>
              <a:t>Result: 34,374 clean transactions</a:t>
            </a:r>
            <a:endParaRPr lang="en-US" sz="1500" dirty="0"/>
          </a:p>
        </p:txBody>
      </p:sp>
      <p:sp>
        <p:nvSpPr>
          <p:cNvPr id="5" name="Shape 3"/>
          <p:cNvSpPr/>
          <p:nvPr/>
        </p:nvSpPr>
        <p:spPr>
          <a:xfrm>
            <a:off x="6400800" y="1371600"/>
            <a:ext cx="5303520" cy="4297680"/>
          </a:xfrm>
          <a:prstGeom prst="roundRect">
            <a:avLst>
              <a:gd name="adj" fmla="val 2128"/>
            </a:avLst>
          </a:prstGeom>
          <a:solidFill>
            <a:srgbClr val="FFF4EC"/>
          </a:solidFill>
          <a:ln w="12700">
            <a:solidFill>
              <a:srgbClr val="FFF4EC"/>
            </a:solidFill>
            <a:prstDash val="solid"/>
          </a:ln>
        </p:spPr>
        <p:txBody>
          <a:bodyPr/>
          <a:lstStyle/>
          <a:p>
            <a:endParaRPr lang="en-US"/>
          </a:p>
        </p:txBody>
      </p:sp>
      <p:sp>
        <p:nvSpPr>
          <p:cNvPr id="6" name="Text 4"/>
          <p:cNvSpPr/>
          <p:nvPr/>
        </p:nvSpPr>
        <p:spPr>
          <a:xfrm>
            <a:off x="6675120" y="1554480"/>
            <a:ext cx="4937760" cy="457200"/>
          </a:xfrm>
          <a:prstGeom prst="rect">
            <a:avLst/>
          </a:prstGeom>
          <a:noFill/>
          <a:ln/>
        </p:spPr>
        <p:txBody>
          <a:bodyPr wrap="square" lIns="0" tIns="0" rIns="0" bIns="0" rtlCol="0" anchor="ctr"/>
          <a:lstStyle/>
          <a:p>
            <a:pPr marL="0" indent="0">
              <a:buNone/>
            </a:pPr>
            <a:r>
              <a:rPr lang="en-US" sz="1800" b="1" dirty="0">
                <a:solidFill>
                  <a:srgbClr val="B85042"/>
                </a:solidFill>
                <a:latin typeface="Calibri" pitchFamily="34" charset="0"/>
                <a:ea typeface="Calibri" pitchFamily="34" charset="-122"/>
                <a:cs typeface="Calibri" pitchFamily="34" charset="-120"/>
              </a:rPr>
              <a:t>Why count transactions?</a:t>
            </a:r>
            <a:endParaRPr lang="en-US" sz="1800" dirty="0"/>
          </a:p>
        </p:txBody>
      </p:sp>
      <p:sp>
        <p:nvSpPr>
          <p:cNvPr id="7" name="Text 5"/>
          <p:cNvSpPr/>
          <p:nvPr/>
        </p:nvSpPr>
        <p:spPr>
          <a:xfrm>
            <a:off x="6675120" y="2103120"/>
            <a:ext cx="4937760" cy="1645920"/>
          </a:xfrm>
          <a:prstGeom prst="rect">
            <a:avLst/>
          </a:prstGeom>
          <a:noFill/>
          <a:ln/>
        </p:spPr>
        <p:txBody>
          <a:bodyPr wrap="square" rtlCol="0" anchor="t"/>
          <a:lstStyle/>
          <a:p>
            <a:pPr marL="0" indent="0">
              <a:spcAft>
                <a:spcPts val="600"/>
              </a:spcAft>
              <a:buNone/>
            </a:pPr>
            <a:r>
              <a:rPr lang="en-US" sz="1500" dirty="0">
                <a:solidFill>
                  <a:srgbClr val="333333"/>
                </a:solidFill>
                <a:latin typeface="Calibri" pitchFamily="34" charset="0"/>
                <a:ea typeface="Calibri" pitchFamily="34" charset="-122"/>
                <a:cs typeface="Calibri" pitchFamily="34" charset="-120"/>
              </a:rPr>
              <a:t>Quantities are reported in mixed units (specimens, kilograms, millilitres) and a handful of unusually large single shipments would completely dominate any total.</a:t>
            </a:r>
            <a:endParaRPr lang="en-US" sz="1500" dirty="0"/>
          </a:p>
        </p:txBody>
      </p:sp>
      <p:sp>
        <p:nvSpPr>
          <p:cNvPr id="8" name="Text 6"/>
          <p:cNvSpPr/>
          <p:nvPr/>
        </p:nvSpPr>
        <p:spPr>
          <a:xfrm>
            <a:off x="6675120" y="3749040"/>
            <a:ext cx="4937760" cy="1828800"/>
          </a:xfrm>
          <a:prstGeom prst="rect">
            <a:avLst/>
          </a:prstGeom>
          <a:noFill/>
          <a:ln/>
        </p:spPr>
        <p:txBody>
          <a:bodyPr wrap="square" rtlCol="0" anchor="t"/>
          <a:lstStyle/>
          <a:p>
            <a:pPr marL="0" indent="0">
              <a:buNone/>
            </a:pPr>
            <a:r>
              <a:rPr lang="en-US" sz="1500" i="1" dirty="0">
                <a:solidFill>
                  <a:srgbClr val="333333"/>
                </a:solidFill>
                <a:latin typeface="Calibri" pitchFamily="34" charset="0"/>
                <a:ea typeface="Calibri" pitchFamily="34" charset="-122"/>
                <a:cs typeface="Calibri" pitchFamily="34" charset="-120"/>
              </a:rPr>
              <a:t>So we count how often trade happens - one row = one reported transaction. This gives a cleaner picture of trade activity across countries and species.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Is trade going up or down?</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Wild mammal trade transactions per year, 2016–2024</a:t>
            </a:r>
            <a:endParaRPr lang="en-US" sz="1400" dirty="0"/>
          </a:p>
        </p:txBody>
      </p:sp>
      <p:graphicFrame>
        <p:nvGraphicFramePr>
          <p:cNvPr id="4" name="Chart 0"/>
          <p:cNvGraphicFramePr/>
          <p:nvPr/>
        </p:nvGraphicFramePr>
        <p:xfrm>
          <a:off x="640080" y="1554480"/>
          <a:ext cx="77724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554480"/>
            <a:ext cx="3108960" cy="4389120"/>
          </a:xfrm>
          <a:prstGeom prst="roundRect">
            <a:avLst>
              <a:gd name="adj" fmla="val 2941"/>
            </a:avLst>
          </a:prstGeom>
          <a:solidFill>
            <a:srgbClr val="F0F5EC"/>
          </a:solidFill>
          <a:ln w="12700">
            <a:solidFill>
              <a:srgbClr val="F0F5EC"/>
            </a:solidFill>
            <a:prstDash val="solid"/>
          </a:ln>
        </p:spPr>
        <p:txBody>
          <a:bodyPr/>
          <a:lstStyle/>
          <a:p>
            <a:endParaRPr lang="en-US"/>
          </a:p>
        </p:txBody>
      </p:sp>
      <p:sp>
        <p:nvSpPr>
          <p:cNvPr id="6" name="Text 3"/>
          <p:cNvSpPr/>
          <p:nvPr/>
        </p:nvSpPr>
        <p:spPr>
          <a:xfrm>
            <a:off x="8869680" y="1737360"/>
            <a:ext cx="2743200" cy="36576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Finding</a:t>
            </a:r>
            <a:endParaRPr lang="en-US" sz="1400" dirty="0"/>
          </a:p>
        </p:txBody>
      </p:sp>
      <p:sp>
        <p:nvSpPr>
          <p:cNvPr id="7" name="Text 4"/>
          <p:cNvSpPr/>
          <p:nvPr/>
        </p:nvSpPr>
        <p:spPr>
          <a:xfrm>
            <a:off x="8869680" y="2194560"/>
            <a:ext cx="2743200" cy="128016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Trade is steady at ~3,500-4,300 transactions per year.</a:t>
            </a:r>
            <a:endParaRPr lang="en-US" sz="1500" dirty="0"/>
          </a:p>
        </p:txBody>
      </p:sp>
      <p:sp>
        <p:nvSpPr>
          <p:cNvPr id="8" name="Text 5"/>
          <p:cNvSpPr/>
          <p:nvPr/>
        </p:nvSpPr>
        <p:spPr>
          <a:xfrm>
            <a:off x="8869680" y="3566160"/>
            <a:ext cx="2743200" cy="128016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The 2020–2021 dip aligns with COVID-19 travel restrictions.</a:t>
            </a:r>
            <a:endParaRPr lang="en-US" sz="1500" dirty="0"/>
          </a:p>
        </p:txBody>
      </p:sp>
      <p:sp>
        <p:nvSpPr>
          <p:cNvPr id="9" name="Text 6"/>
          <p:cNvSpPr/>
          <p:nvPr/>
        </p:nvSpPr>
        <p:spPr>
          <a:xfrm>
            <a:off x="8869680" y="4937760"/>
            <a:ext cx="2743200" cy="822960"/>
          </a:xfrm>
          <a:prstGeom prst="rect">
            <a:avLst/>
          </a:prstGeom>
          <a:noFill/>
          <a:ln/>
        </p:spPr>
        <p:txBody>
          <a:bodyPr wrap="square" rtlCol="0" anchor="t"/>
          <a:lstStyle/>
          <a:p>
            <a:pPr marL="0" indent="0">
              <a:buNone/>
            </a:pPr>
            <a:r>
              <a:rPr lang="en-US" sz="1500" b="1" dirty="0">
                <a:solidFill>
                  <a:srgbClr val="B85042"/>
                </a:solidFill>
                <a:latin typeface="Calibri" pitchFamily="34" charset="0"/>
                <a:ea typeface="Calibri" pitchFamily="34" charset="-122"/>
                <a:cs typeface="Calibri" pitchFamily="34" charset="-120"/>
              </a:rPr>
              <a:t>No overall decline.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Who is buying?</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Top 10 importing countries by number of transactions</a:t>
            </a:r>
            <a:endParaRPr lang="en-US" sz="1400" dirty="0"/>
          </a:p>
        </p:txBody>
      </p:sp>
      <p:graphicFrame>
        <p:nvGraphicFramePr>
          <p:cNvPr id="4" name="Chart 0"/>
          <p:cNvGraphicFramePr/>
          <p:nvPr/>
        </p:nvGraphicFramePr>
        <p:xfrm>
          <a:off x="640080" y="15544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554480"/>
            <a:ext cx="3108960" cy="4846320"/>
          </a:xfrm>
          <a:prstGeom prst="roundRect">
            <a:avLst>
              <a:gd name="adj" fmla="val 2941"/>
            </a:avLst>
          </a:prstGeom>
          <a:solidFill>
            <a:srgbClr val="F0F5EC"/>
          </a:solidFill>
          <a:ln w="12700">
            <a:solidFill>
              <a:srgbClr val="F0F5EC"/>
            </a:solidFill>
            <a:prstDash val="solid"/>
          </a:ln>
        </p:spPr>
        <p:txBody>
          <a:bodyPr/>
          <a:lstStyle/>
          <a:p>
            <a:endParaRPr lang="en-US"/>
          </a:p>
        </p:txBody>
      </p:sp>
      <p:sp>
        <p:nvSpPr>
          <p:cNvPr id="6" name="Text 3"/>
          <p:cNvSpPr/>
          <p:nvPr/>
        </p:nvSpPr>
        <p:spPr>
          <a:xfrm>
            <a:off x="8869680" y="1737360"/>
            <a:ext cx="2743200" cy="36576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Finding</a:t>
            </a:r>
            <a:endParaRPr lang="en-US" sz="1400" dirty="0"/>
          </a:p>
        </p:txBody>
      </p:sp>
      <p:sp>
        <p:nvSpPr>
          <p:cNvPr id="7" name="Text 4"/>
          <p:cNvSpPr/>
          <p:nvPr/>
        </p:nvSpPr>
        <p:spPr>
          <a:xfrm>
            <a:off x="8869680" y="2194560"/>
            <a:ext cx="2743200" cy="731520"/>
          </a:xfrm>
          <a:prstGeom prst="rect">
            <a:avLst/>
          </a:prstGeom>
          <a:noFill/>
          <a:ln/>
        </p:spPr>
        <p:txBody>
          <a:bodyPr wrap="square" rtlCol="0" anchor="ctr"/>
          <a:lstStyle/>
          <a:p>
            <a:pPr marL="0" indent="0">
              <a:buNone/>
            </a:pPr>
            <a:r>
              <a:rPr lang="en-US" sz="4000" b="1" dirty="0">
                <a:solidFill>
                  <a:srgbClr val="2C5F2D"/>
                </a:solidFill>
                <a:latin typeface="Cambria" pitchFamily="34" charset="0"/>
                <a:ea typeface="Cambria" pitchFamily="34" charset="-122"/>
                <a:cs typeface="Cambria" pitchFamily="34" charset="-120"/>
              </a:rPr>
              <a:t>5,053</a:t>
            </a:r>
            <a:endParaRPr lang="en-US" sz="4000" dirty="0"/>
          </a:p>
        </p:txBody>
      </p:sp>
      <p:sp>
        <p:nvSpPr>
          <p:cNvPr id="8" name="Text 5"/>
          <p:cNvSpPr/>
          <p:nvPr/>
        </p:nvSpPr>
        <p:spPr>
          <a:xfrm>
            <a:off x="8869680" y="2971800"/>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US transactions -</a:t>
            </a:r>
            <a:endParaRPr lang="en-US" sz="1300" dirty="0"/>
          </a:p>
        </p:txBody>
      </p:sp>
      <p:sp>
        <p:nvSpPr>
          <p:cNvPr id="9" name="Text 6"/>
          <p:cNvSpPr/>
          <p:nvPr/>
        </p:nvSpPr>
        <p:spPr>
          <a:xfrm>
            <a:off x="8869680" y="3291840"/>
            <a:ext cx="2743200" cy="36576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more than 2× Germany.</a:t>
            </a:r>
            <a:endParaRPr lang="en-US" sz="1300" dirty="0"/>
          </a:p>
        </p:txBody>
      </p:sp>
      <p:sp>
        <p:nvSpPr>
          <p:cNvPr id="10" name="Text 7"/>
          <p:cNvSpPr/>
          <p:nvPr/>
        </p:nvSpPr>
        <p:spPr>
          <a:xfrm>
            <a:off x="8869680" y="3931920"/>
            <a:ext cx="2743200" cy="164592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The top 10 importers are all wealthy Western nations (plus China).</a:t>
            </a:r>
            <a:endParaRPr lang="en-US" sz="1400" dirty="0"/>
          </a:p>
        </p:txBody>
      </p:sp>
      <p:sp>
        <p:nvSpPr>
          <p:cNvPr id="11" name="Text 8"/>
          <p:cNvSpPr/>
          <p:nvPr/>
        </p:nvSpPr>
        <p:spPr>
          <a:xfrm>
            <a:off x="8869680" y="5669280"/>
            <a:ext cx="2743200" cy="640080"/>
          </a:xfrm>
          <a:prstGeom prst="rect">
            <a:avLst/>
          </a:prstGeom>
          <a:noFill/>
          <a:ln/>
        </p:spPr>
        <p:txBody>
          <a:bodyPr wrap="square"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Demand is highly concentrated.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Which mammals are traded most?</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Top 10 species by number of transactions (common names)</a:t>
            </a:r>
            <a:endParaRPr lang="en-US" sz="1400" dirty="0"/>
          </a:p>
        </p:txBody>
      </p:sp>
      <p:graphicFrame>
        <p:nvGraphicFramePr>
          <p:cNvPr id="4" name="Chart 0"/>
          <p:cNvGraphicFramePr/>
          <p:nvPr/>
        </p:nvGraphicFramePr>
        <p:xfrm>
          <a:off x="640080" y="15544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554480"/>
            <a:ext cx="3108960" cy="4846320"/>
          </a:xfrm>
          <a:prstGeom prst="roundRect">
            <a:avLst>
              <a:gd name="adj" fmla="val 2941"/>
            </a:avLst>
          </a:prstGeom>
          <a:solidFill>
            <a:srgbClr val="F0F5EC"/>
          </a:solidFill>
          <a:ln w="12700">
            <a:solidFill>
              <a:srgbClr val="F0F5EC"/>
            </a:solidFill>
            <a:prstDash val="solid"/>
          </a:ln>
        </p:spPr>
        <p:txBody>
          <a:bodyPr/>
          <a:lstStyle/>
          <a:p>
            <a:endParaRPr lang="en-US"/>
          </a:p>
        </p:txBody>
      </p:sp>
      <p:sp>
        <p:nvSpPr>
          <p:cNvPr id="6" name="Text 3"/>
          <p:cNvSpPr/>
          <p:nvPr/>
        </p:nvSpPr>
        <p:spPr>
          <a:xfrm>
            <a:off x="8869680" y="1737360"/>
            <a:ext cx="2743200" cy="365760"/>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Finding</a:t>
            </a:r>
            <a:endParaRPr lang="en-US" sz="1400" dirty="0"/>
          </a:p>
        </p:txBody>
      </p:sp>
      <p:sp>
        <p:nvSpPr>
          <p:cNvPr id="7" name="Text 4"/>
          <p:cNvSpPr/>
          <p:nvPr/>
        </p:nvSpPr>
        <p:spPr>
          <a:xfrm>
            <a:off x="8869680" y="2194560"/>
            <a:ext cx="2743200" cy="118872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The most-traded species are iconic wildlife.</a:t>
            </a:r>
            <a:endParaRPr lang="en-US" sz="1500" dirty="0"/>
          </a:p>
        </p:txBody>
      </p:sp>
      <p:sp>
        <p:nvSpPr>
          <p:cNvPr id="8" name="Text 5"/>
          <p:cNvSpPr/>
          <p:nvPr/>
        </p:nvSpPr>
        <p:spPr>
          <a:xfrm>
            <a:off x="8869680" y="3474720"/>
            <a:ext cx="2743200" cy="365760"/>
          </a:xfrm>
          <a:prstGeom prst="rect">
            <a:avLst/>
          </a:prstGeom>
          <a:noFill/>
          <a:ln/>
        </p:spPr>
        <p:txBody>
          <a:bodyPr wrap="square"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African megafauna:</a:t>
            </a:r>
            <a:endParaRPr lang="en-US" sz="1300" dirty="0"/>
          </a:p>
        </p:txBody>
      </p:sp>
      <p:sp>
        <p:nvSpPr>
          <p:cNvPr id="9" name="Text 6"/>
          <p:cNvSpPr/>
          <p:nvPr/>
        </p:nvSpPr>
        <p:spPr>
          <a:xfrm>
            <a:off x="8869680" y="3794760"/>
            <a:ext cx="2743200" cy="6400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elephant, hippo, giraffe, zebra, baboon</a:t>
            </a:r>
            <a:endParaRPr lang="en-US" sz="1300" dirty="0"/>
          </a:p>
        </p:txBody>
      </p:sp>
      <p:sp>
        <p:nvSpPr>
          <p:cNvPr id="10" name="Text 7"/>
          <p:cNvSpPr/>
          <p:nvPr/>
        </p:nvSpPr>
        <p:spPr>
          <a:xfrm>
            <a:off x="8869680" y="4572000"/>
            <a:ext cx="2743200" cy="365760"/>
          </a:xfrm>
          <a:prstGeom prst="rect">
            <a:avLst/>
          </a:prstGeom>
          <a:noFill/>
          <a:ln/>
        </p:spPr>
        <p:txBody>
          <a:bodyPr wrap="square"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Large predators:</a:t>
            </a:r>
            <a:endParaRPr lang="en-US" sz="1300" dirty="0"/>
          </a:p>
        </p:txBody>
      </p:sp>
      <p:sp>
        <p:nvSpPr>
          <p:cNvPr id="11" name="Text 8"/>
          <p:cNvSpPr/>
          <p:nvPr/>
        </p:nvSpPr>
        <p:spPr>
          <a:xfrm>
            <a:off x="8869680" y="4892040"/>
            <a:ext cx="2743200" cy="6400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black bear, brown bear, gray wolf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What form does the trade take?</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Top 10 trade terms by number of transactions</a:t>
            </a:r>
            <a:endParaRPr lang="en-US" sz="1400" dirty="0"/>
          </a:p>
        </p:txBody>
      </p:sp>
      <p:graphicFrame>
        <p:nvGraphicFramePr>
          <p:cNvPr id="4" name="Chart 0"/>
          <p:cNvGraphicFramePr/>
          <p:nvPr/>
        </p:nvGraphicFramePr>
        <p:xfrm>
          <a:off x="640080" y="15544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554480"/>
            <a:ext cx="3108960" cy="4846320"/>
          </a:xfrm>
          <a:prstGeom prst="roundRect">
            <a:avLst>
              <a:gd name="adj" fmla="val 2941"/>
            </a:avLst>
          </a:prstGeom>
          <a:solidFill>
            <a:srgbClr val="FFF4EC"/>
          </a:solidFill>
          <a:ln w="12700">
            <a:solidFill>
              <a:srgbClr val="FFF4EC"/>
            </a:solidFill>
            <a:prstDash val="solid"/>
          </a:ln>
        </p:spPr>
        <p:txBody>
          <a:bodyPr/>
          <a:lstStyle/>
          <a:p>
            <a:endParaRPr lang="en-US"/>
          </a:p>
        </p:txBody>
      </p:sp>
      <p:sp>
        <p:nvSpPr>
          <p:cNvPr id="6" name="Text 3"/>
          <p:cNvSpPr/>
          <p:nvPr/>
        </p:nvSpPr>
        <p:spPr>
          <a:xfrm>
            <a:off x="8869680" y="1737360"/>
            <a:ext cx="2743200" cy="365760"/>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Finding</a:t>
            </a:r>
            <a:endParaRPr lang="en-US" sz="1400" dirty="0"/>
          </a:p>
        </p:txBody>
      </p:sp>
      <p:sp>
        <p:nvSpPr>
          <p:cNvPr id="7" name="Text 4"/>
          <p:cNvSpPr/>
          <p:nvPr/>
        </p:nvSpPr>
        <p:spPr>
          <a:xfrm>
            <a:off x="8869680" y="2194560"/>
            <a:ext cx="2743200" cy="914400"/>
          </a:xfrm>
          <a:prstGeom prst="rect">
            <a:avLst/>
          </a:prstGeom>
          <a:noFill/>
          <a:ln/>
        </p:spPr>
        <p:txBody>
          <a:bodyPr wrap="square" rtlCol="0" anchor="ctr"/>
          <a:lstStyle/>
          <a:p>
            <a:pPr marL="0" indent="0">
              <a:buNone/>
            </a:pPr>
            <a:r>
              <a:rPr lang="en-US" sz="6000" b="1" dirty="0">
                <a:solidFill>
                  <a:srgbClr val="B85042"/>
                </a:solidFill>
                <a:latin typeface="Cambria" pitchFamily="34" charset="0"/>
                <a:ea typeface="Cambria" pitchFamily="34" charset="-122"/>
                <a:cs typeface="Cambria" pitchFamily="34" charset="-120"/>
              </a:rPr>
              <a:t>28%</a:t>
            </a:r>
            <a:endParaRPr lang="en-US" sz="6000" dirty="0"/>
          </a:p>
        </p:txBody>
      </p:sp>
      <p:sp>
        <p:nvSpPr>
          <p:cNvPr id="8" name="Text 5"/>
          <p:cNvSpPr/>
          <p:nvPr/>
        </p:nvSpPr>
        <p:spPr>
          <a:xfrm>
            <a:off x="8869680" y="3200400"/>
            <a:ext cx="2743200" cy="109728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of all wild mammal trade is hunting trophies.</a:t>
            </a:r>
            <a:endParaRPr lang="en-US" sz="1400" dirty="0"/>
          </a:p>
        </p:txBody>
      </p:sp>
      <p:sp>
        <p:nvSpPr>
          <p:cNvPr id="9" name="Text 6"/>
          <p:cNvSpPr/>
          <p:nvPr/>
        </p:nvSpPr>
        <p:spPr>
          <a:xfrm>
            <a:off x="8869680" y="4480560"/>
            <a:ext cx="2743200" cy="1371600"/>
          </a:xfrm>
          <a:prstGeom prst="rect">
            <a:avLst/>
          </a:prstGeom>
          <a:noFill/>
          <a:ln/>
        </p:spPr>
        <p:txBody>
          <a:bodyPr wrap="square" rtlCol="0" anchor="t"/>
          <a:lstStyle/>
          <a:p>
            <a:pPr marL="0" indent="0">
              <a:buNone/>
            </a:pPr>
            <a:r>
              <a:rPr lang="en-US" sz="1300" i="1" dirty="0">
                <a:solidFill>
                  <a:srgbClr val="6B7280"/>
                </a:solidFill>
                <a:latin typeface="Calibri" pitchFamily="34" charset="0"/>
                <a:ea typeface="Calibri" pitchFamily="34" charset="-122"/>
                <a:cs typeface="Calibri" pitchFamily="34" charset="-120"/>
              </a:rPr>
              <a:t>Trophies + skulls + bodies + skins together dominate.</a:t>
            </a:r>
            <a:endParaRPr lang="en-US" sz="1300" dirty="0"/>
          </a:p>
        </p:txBody>
      </p:sp>
      <p:sp>
        <p:nvSpPr>
          <p:cNvPr id="10" name="Text 7"/>
          <p:cNvSpPr/>
          <p:nvPr/>
        </p:nvSpPr>
        <p:spPr>
          <a:xfrm>
            <a:off x="8869680" y="5669280"/>
            <a:ext cx="2743200" cy="640080"/>
          </a:xfrm>
          <a:prstGeom prst="rect">
            <a:avLst/>
          </a:prstGeom>
          <a:noFill/>
          <a:ln/>
        </p:spPr>
        <p:txBody>
          <a:bodyPr wrap="square" rtlCol="0" anchor="t"/>
          <a:lstStyle/>
          <a:p>
            <a:pPr marL="0" indent="0">
              <a:buNone/>
            </a:pPr>
            <a:r>
              <a:rPr lang="en-US" sz="1300" b="1" dirty="0">
                <a:solidFill>
                  <a:srgbClr val="B85042"/>
                </a:solidFill>
                <a:latin typeface="Calibri" pitchFamily="34" charset="0"/>
                <a:ea typeface="Calibri" pitchFamily="34" charset="-122"/>
                <a:cs typeface="Calibri" pitchFamily="34" charset="-120"/>
              </a:rPr>
              <a:t>This is a hunting story - not a commercial 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Which species are trophy-hunted?</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Top 10 species when we filter to trophies only</a:t>
            </a:r>
            <a:endParaRPr lang="en-US" sz="1400" dirty="0"/>
          </a:p>
        </p:txBody>
      </p:sp>
      <p:graphicFrame>
        <p:nvGraphicFramePr>
          <p:cNvPr id="4" name="Chart 0"/>
          <p:cNvGraphicFramePr/>
          <p:nvPr/>
        </p:nvGraphicFramePr>
        <p:xfrm>
          <a:off x="640080" y="15544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686800" y="1554480"/>
            <a:ext cx="3108960" cy="4846320"/>
          </a:xfrm>
          <a:prstGeom prst="roundRect">
            <a:avLst>
              <a:gd name="adj" fmla="val 2941"/>
            </a:avLst>
          </a:prstGeom>
          <a:solidFill>
            <a:srgbClr val="FFF4EC"/>
          </a:solidFill>
          <a:ln w="12700">
            <a:solidFill>
              <a:srgbClr val="FFF4EC"/>
            </a:solidFill>
            <a:prstDash val="solid"/>
          </a:ln>
        </p:spPr>
        <p:txBody>
          <a:bodyPr/>
          <a:lstStyle/>
          <a:p>
            <a:endParaRPr lang="en-US"/>
          </a:p>
        </p:txBody>
      </p:sp>
      <p:sp>
        <p:nvSpPr>
          <p:cNvPr id="6" name="Text 3"/>
          <p:cNvSpPr/>
          <p:nvPr/>
        </p:nvSpPr>
        <p:spPr>
          <a:xfrm>
            <a:off x="8869680" y="1737360"/>
            <a:ext cx="2743200" cy="365760"/>
          </a:xfrm>
          <a:prstGeom prst="rect">
            <a:avLst/>
          </a:prstGeom>
          <a:noFill/>
          <a:ln/>
        </p:spPr>
        <p:txBody>
          <a:bodyPr wrap="square" lIns="0" tIns="0" rIns="0" bIns="0" rtlCol="0" anchor="ctr"/>
          <a:lstStyle/>
          <a:p>
            <a:pPr marL="0" indent="0">
              <a:buNone/>
            </a:pPr>
            <a:r>
              <a:rPr lang="en-US" sz="1400" b="1" dirty="0">
                <a:solidFill>
                  <a:srgbClr val="B85042"/>
                </a:solidFill>
                <a:latin typeface="Calibri" pitchFamily="34" charset="0"/>
                <a:ea typeface="Calibri" pitchFamily="34" charset="-122"/>
                <a:cs typeface="Calibri" pitchFamily="34" charset="-120"/>
              </a:rPr>
              <a:t>Finding</a:t>
            </a:r>
            <a:endParaRPr lang="en-US" sz="1400" dirty="0"/>
          </a:p>
        </p:txBody>
      </p:sp>
      <p:sp>
        <p:nvSpPr>
          <p:cNvPr id="7" name="Text 4"/>
          <p:cNvSpPr/>
          <p:nvPr/>
        </p:nvSpPr>
        <p:spPr>
          <a:xfrm>
            <a:off x="8869680" y="2194560"/>
            <a:ext cx="2743200" cy="146304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The trophy list reads like an African safari brochure.</a:t>
            </a:r>
            <a:endParaRPr lang="en-US" sz="1500" dirty="0"/>
          </a:p>
        </p:txBody>
      </p:sp>
      <p:sp>
        <p:nvSpPr>
          <p:cNvPr id="8" name="Text 5"/>
          <p:cNvSpPr/>
          <p:nvPr/>
        </p:nvSpPr>
        <p:spPr>
          <a:xfrm>
            <a:off x="8869680" y="3840480"/>
            <a:ext cx="2743200" cy="365760"/>
          </a:xfrm>
          <a:prstGeom prst="rect">
            <a:avLst/>
          </a:prstGeom>
          <a:noFill/>
          <a:ln/>
        </p:spPr>
        <p:txBody>
          <a:bodyPr wrap="square"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Includes three big cats:</a:t>
            </a:r>
            <a:endParaRPr lang="en-US" sz="1300" dirty="0"/>
          </a:p>
        </p:txBody>
      </p:sp>
      <p:sp>
        <p:nvSpPr>
          <p:cNvPr id="9" name="Text 6"/>
          <p:cNvSpPr/>
          <p:nvPr/>
        </p:nvSpPr>
        <p:spPr>
          <a:xfrm>
            <a:off x="8869680" y="4160520"/>
            <a:ext cx="2743200" cy="457200"/>
          </a:xfrm>
          <a:prstGeom prst="rect">
            <a:avLst/>
          </a:prstGeom>
          <a:noFill/>
          <a:ln/>
        </p:spPr>
        <p:txBody>
          <a:bodyPr wrap="square"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leopard, caracal, African lion</a:t>
            </a:r>
            <a:endParaRPr lang="en-US" sz="1300" dirty="0"/>
          </a:p>
        </p:txBody>
      </p:sp>
      <p:sp>
        <p:nvSpPr>
          <p:cNvPr id="10" name="Text 7"/>
          <p:cNvSpPr/>
          <p:nvPr/>
        </p:nvSpPr>
        <p:spPr>
          <a:xfrm>
            <a:off x="8869680" y="4937760"/>
            <a:ext cx="2743200" cy="1371600"/>
          </a:xfrm>
          <a:prstGeom prst="rect">
            <a:avLst/>
          </a:prstGeom>
          <a:noFill/>
          <a:ln/>
        </p:spPr>
        <p:txBody>
          <a:bodyPr wrap="square" rtlCol="0" anchor="t"/>
          <a:lstStyle/>
          <a:p>
            <a:pPr marL="0" indent="0">
              <a:buNone/>
            </a:pPr>
            <a:r>
              <a:rPr lang="en-US" sz="1300" b="1" dirty="0">
                <a:solidFill>
                  <a:srgbClr val="B85042"/>
                </a:solidFill>
                <a:latin typeface="Calibri" pitchFamily="34" charset="0"/>
                <a:ea typeface="Calibri" pitchFamily="34" charset="-122"/>
                <a:cs typeface="Calibri" pitchFamily="34" charset="-120"/>
              </a:rPr>
              <a:t>Elephants, hippos, giraffes, and lions are still being legally trophy-hunted at scale.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A Data-Quality Discovery</a:t>
            </a:r>
            <a:endParaRPr lang="en-US" sz="3200" dirty="0"/>
          </a:p>
        </p:txBody>
      </p:sp>
      <p:sp>
        <p:nvSpPr>
          <p:cNvPr id="3" name="Text 1"/>
          <p:cNvSpPr/>
          <p:nvPr/>
        </p:nvSpPr>
        <p:spPr>
          <a:xfrm>
            <a:off x="457200" y="100584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Why we chose to count transactions instead of summing quantities</a:t>
            </a:r>
            <a:endParaRPr lang="en-US" sz="1400" dirty="0"/>
          </a:p>
        </p:txBody>
      </p:sp>
      <p:sp>
        <p:nvSpPr>
          <p:cNvPr id="4" name="Text 2"/>
          <p:cNvSpPr/>
          <p:nvPr/>
        </p:nvSpPr>
        <p:spPr>
          <a:xfrm>
            <a:off x="457200" y="2103120"/>
            <a:ext cx="10972800" cy="1280160"/>
          </a:xfrm>
          <a:prstGeom prst="rect">
            <a:avLst/>
          </a:prstGeom>
          <a:noFill/>
          <a:ln/>
        </p:spPr>
        <p:txBody>
          <a:bodyPr wrap="square" rtlCol="0" anchor="ctr"/>
          <a:lstStyle/>
          <a:p>
            <a:pPr marL="0" indent="0" algn="ctr">
              <a:buNone/>
            </a:pPr>
            <a:r>
              <a:rPr lang="en-US" sz="8400" b="1" dirty="0">
                <a:solidFill>
                  <a:srgbClr val="B85042"/>
                </a:solidFill>
                <a:latin typeface="Cambria" pitchFamily="34" charset="0"/>
                <a:ea typeface="Cambria" pitchFamily="34" charset="-122"/>
                <a:cs typeface="Cambria" pitchFamily="34" charset="-120"/>
              </a:rPr>
              <a:t>360,000,000</a:t>
            </a:r>
            <a:endParaRPr lang="en-US" sz="8400" dirty="0"/>
          </a:p>
        </p:txBody>
      </p:sp>
      <p:sp>
        <p:nvSpPr>
          <p:cNvPr id="5" name="Text 3"/>
          <p:cNvSpPr/>
          <p:nvPr/>
        </p:nvSpPr>
        <p:spPr>
          <a:xfrm>
            <a:off x="457200" y="3383280"/>
            <a:ext cx="10972800" cy="457200"/>
          </a:xfrm>
          <a:prstGeom prst="rect">
            <a:avLst/>
          </a:prstGeom>
          <a:noFill/>
          <a:ln/>
        </p:spPr>
        <p:txBody>
          <a:bodyPr wrap="square" rtlCol="0" anchor="ctr"/>
          <a:lstStyle/>
          <a:p>
            <a:pPr marL="0" indent="0" algn="ctr">
              <a:buNone/>
            </a:pPr>
            <a:r>
              <a:rPr lang="en-US" sz="1800" i="1" dirty="0">
                <a:solidFill>
                  <a:srgbClr val="333333"/>
                </a:solidFill>
                <a:latin typeface="Calibri" pitchFamily="34" charset="0"/>
                <a:ea typeface="Calibri" pitchFamily="34" charset="-122"/>
                <a:cs typeface="Calibri" pitchFamily="34" charset="-120"/>
              </a:rPr>
              <a:t>research specimens of one monkey species</a:t>
            </a:r>
            <a:endParaRPr lang="en-US" sz="1800" dirty="0"/>
          </a:p>
        </p:txBody>
      </p:sp>
      <p:sp>
        <p:nvSpPr>
          <p:cNvPr id="6" name="Text 4"/>
          <p:cNvSpPr/>
          <p:nvPr/>
        </p:nvSpPr>
        <p:spPr>
          <a:xfrm>
            <a:off x="457200" y="3794760"/>
            <a:ext cx="10972800" cy="45720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shipped to Egypt, Algeria and Russia in a single year (2019)</a:t>
            </a:r>
            <a:endParaRPr lang="en-US" sz="1600" dirty="0"/>
          </a:p>
        </p:txBody>
      </p:sp>
      <p:sp>
        <p:nvSpPr>
          <p:cNvPr id="7" name="Shape 5"/>
          <p:cNvSpPr/>
          <p:nvPr/>
        </p:nvSpPr>
        <p:spPr>
          <a:xfrm>
            <a:off x="1097280" y="4663440"/>
            <a:ext cx="9966960" cy="1645920"/>
          </a:xfrm>
          <a:prstGeom prst="roundRect">
            <a:avLst>
              <a:gd name="adj" fmla="val 5556"/>
            </a:avLst>
          </a:prstGeom>
          <a:solidFill>
            <a:srgbClr val="F0F5EC"/>
          </a:solidFill>
          <a:ln w="12700">
            <a:solidFill>
              <a:srgbClr val="F0F5EC"/>
            </a:solidFill>
            <a:prstDash val="solid"/>
          </a:ln>
        </p:spPr>
        <p:txBody>
          <a:bodyPr/>
          <a:lstStyle/>
          <a:p>
            <a:endParaRPr lang="en-US"/>
          </a:p>
        </p:txBody>
      </p:sp>
      <p:sp>
        <p:nvSpPr>
          <p:cNvPr id="8" name="Text 6"/>
          <p:cNvSpPr/>
          <p:nvPr/>
        </p:nvSpPr>
        <p:spPr>
          <a:xfrm>
            <a:off x="1371600" y="4846320"/>
            <a:ext cx="9418320" cy="1371600"/>
          </a:xfrm>
          <a:prstGeom prst="rect">
            <a:avLst/>
          </a:prstGeom>
          <a:noFill/>
          <a:ln/>
        </p:spPr>
        <p:txBody>
          <a:bodyPr wrap="square" rtlCol="0" anchor="t"/>
          <a:lstStyle/>
          <a:p>
            <a:pPr marL="0" indent="0">
              <a:spcAft>
                <a:spcPts val="400"/>
              </a:spcAft>
              <a:buNone/>
            </a:pPr>
            <a:r>
              <a:rPr lang="en-US" sz="1400" dirty="0">
                <a:solidFill>
                  <a:srgbClr val="333333"/>
                </a:solidFill>
                <a:latin typeface="Calibri" pitchFamily="34" charset="0"/>
                <a:ea typeface="Calibri" pitchFamily="34" charset="-122"/>
                <a:cs typeface="Calibri" pitchFamily="34" charset="-120"/>
              </a:rPr>
              <a:t>The species was </a:t>
            </a:r>
            <a:r>
              <a:rPr lang="en-US" sz="1400" i="1" dirty="0">
                <a:solidFill>
                  <a:srgbClr val="333333"/>
                </a:solidFill>
                <a:latin typeface="Calibri" pitchFamily="34" charset="0"/>
                <a:ea typeface="Calibri" pitchFamily="34" charset="-122"/>
                <a:cs typeface="Calibri" pitchFamily="34" charset="-120"/>
              </a:rPr>
              <a:t>Chlorocebus aethiops</a:t>
            </a:r>
            <a:r>
              <a:rPr lang="en-US" sz="1400" dirty="0">
                <a:solidFill>
                  <a:srgbClr val="333333"/>
                </a:solidFill>
                <a:latin typeface="Calibri" pitchFamily="34" charset="0"/>
                <a:ea typeface="Calibri" pitchFamily="34" charset="-122"/>
                <a:cs typeface="Calibri" pitchFamily="34" charset="-120"/>
              </a:rPr>
              <a:t> - the African green monkey, whose cells (the Vero cell line) are widely used in vaccine production. These were biological research samples, not live animals.  </a:t>
            </a:r>
            <a:endParaRPr lang="en-US" sz="1400" dirty="0"/>
          </a:p>
          <a:p>
            <a:pPr marL="0" indent="0">
              <a:spcAft>
                <a:spcPts val="400"/>
              </a:spcAft>
              <a:buNone/>
            </a:pPr>
            <a:r>
              <a:rPr lang="en-US" sz="1400" b="1" dirty="0">
                <a:solidFill>
                  <a:srgbClr val="333333"/>
                </a:solidFill>
                <a:latin typeface="Calibri" pitchFamily="34" charset="0"/>
                <a:ea typeface="Calibri" pitchFamily="34" charset="-122"/>
                <a:cs typeface="Calibri" pitchFamily="34" charset="-120"/>
              </a:rPr>
              <a:t>One reporting entry like this can dominate quantity totals - which is exactly why we chose to count transactions instead.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Problem Statement</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marL="0" indent="0">
              <a:buNone/>
            </a:pPr>
            <a:r>
              <a:rPr lang="en-US" sz="1600" i="1" dirty="0">
                <a:solidFill>
                  <a:srgbClr val="97BC62"/>
                </a:solidFill>
                <a:latin typeface="Calibri" pitchFamily="34" charset="0"/>
                <a:ea typeface="Calibri" pitchFamily="34" charset="-122"/>
                <a:cs typeface="Calibri" pitchFamily="34" charset="-120"/>
              </a:rPr>
              <a:t>Data-driven conclusion from our EDA</a:t>
            </a:r>
            <a:endParaRPr lang="en-US" sz="1600" dirty="0"/>
          </a:p>
        </p:txBody>
      </p:sp>
      <p:sp>
        <p:nvSpPr>
          <p:cNvPr id="4" name="Text 2"/>
          <p:cNvSpPr/>
          <p:nvPr/>
        </p:nvSpPr>
        <p:spPr>
          <a:xfrm>
            <a:off x="640080" y="1737360"/>
            <a:ext cx="1371600" cy="1371600"/>
          </a:xfrm>
          <a:prstGeom prst="rect">
            <a:avLst/>
          </a:prstGeom>
          <a:noFill/>
          <a:ln/>
        </p:spPr>
        <p:txBody>
          <a:bodyPr wrap="square" rtlCol="0" anchor="ctr"/>
          <a:lstStyle/>
          <a:p>
            <a:pPr marL="0" indent="0">
              <a:buNone/>
            </a:pPr>
            <a:r>
              <a:rPr lang="en-US" sz="12000" b="1" dirty="0">
                <a:solidFill>
                  <a:srgbClr val="97BC62"/>
                </a:solidFill>
                <a:latin typeface="Cambria" pitchFamily="34" charset="0"/>
                <a:ea typeface="Cambria" pitchFamily="34" charset="-122"/>
                <a:cs typeface="Cambria" pitchFamily="34" charset="-120"/>
              </a:rPr>
              <a:t>“</a:t>
            </a:r>
            <a:endParaRPr lang="en-US" sz="12000" dirty="0"/>
          </a:p>
        </p:txBody>
      </p:sp>
      <p:sp>
        <p:nvSpPr>
          <p:cNvPr id="5" name="Text 3"/>
          <p:cNvSpPr/>
          <p:nvPr/>
        </p:nvSpPr>
        <p:spPr>
          <a:xfrm>
            <a:off x="2103120" y="2560320"/>
            <a:ext cx="9418320" cy="3200400"/>
          </a:xfrm>
          <a:prstGeom prst="rect">
            <a:avLst/>
          </a:prstGeom>
          <a:noFill/>
          <a:ln/>
        </p:spPr>
        <p:txBody>
          <a:bodyPr wrap="square" rtlCol="0" anchor="t"/>
          <a:lstStyle/>
          <a:p>
            <a:pPr marL="0" indent="0">
              <a:lnSpc>
                <a:spcPct val="130000"/>
              </a:lnSpc>
              <a:spcAft>
                <a:spcPts val="600"/>
              </a:spcAft>
              <a:buNone/>
            </a:pPr>
            <a:r>
              <a:rPr lang="en-US" sz="3200" i="1" dirty="0">
                <a:solidFill>
                  <a:srgbClr val="FFFFFF"/>
                </a:solidFill>
                <a:latin typeface="Calibri" pitchFamily="34" charset="0"/>
                <a:ea typeface="Calibri" pitchFamily="34" charset="-122"/>
                <a:cs typeface="Calibri" pitchFamily="34" charset="-120"/>
              </a:rPr>
              <a:t>Legal wild-mammal trade is steady, concentrated in wealthy Western demand, and dominated by hunting trophies of iconic species - elephants, leopards, and lions.</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457200" y="2468880"/>
            <a:ext cx="11247120" cy="1463040"/>
          </a:xfrm>
          <a:prstGeom prst="rect">
            <a:avLst/>
          </a:prstGeom>
          <a:noFill/>
          <a:ln/>
        </p:spPr>
        <p:txBody>
          <a:bodyPr wrap="square" rtlCol="0" anchor="ctr"/>
          <a:lstStyle/>
          <a:p>
            <a:pPr marL="0" indent="0" algn="ctr">
              <a:buNone/>
            </a:pPr>
            <a:r>
              <a:rPr lang="en-US" sz="8400" b="1" dirty="0">
                <a:solidFill>
                  <a:srgbClr val="FFFFFF"/>
                </a:solidFill>
                <a:latin typeface="Cambria" pitchFamily="34" charset="0"/>
                <a:ea typeface="Cambria" pitchFamily="34" charset="-122"/>
                <a:cs typeface="Cambria" pitchFamily="34" charset="-120"/>
              </a:rPr>
              <a:t>Thank You</a:t>
            </a:r>
            <a:endParaRPr lang="en-US" sz="8400" dirty="0"/>
          </a:p>
        </p:txBody>
      </p:sp>
      <p:sp>
        <p:nvSpPr>
          <p:cNvPr id="3" name="Text 1"/>
          <p:cNvSpPr/>
          <p:nvPr/>
        </p:nvSpPr>
        <p:spPr>
          <a:xfrm>
            <a:off x="457200" y="3931920"/>
            <a:ext cx="11247120" cy="640080"/>
          </a:xfrm>
          <a:prstGeom prst="rect">
            <a:avLst/>
          </a:prstGeom>
          <a:noFill/>
          <a:ln/>
        </p:spPr>
        <p:txBody>
          <a:bodyPr wrap="square" rtlCol="0" anchor="ctr"/>
          <a:lstStyle/>
          <a:p>
            <a:pPr marL="0" indent="0" algn="ctr">
              <a:buNone/>
            </a:pPr>
            <a:r>
              <a:rPr lang="en-US" sz="2800" i="1" dirty="0">
                <a:solidFill>
                  <a:srgbClr val="97BC62"/>
                </a:solidFill>
                <a:latin typeface="Calibri" pitchFamily="34" charset="0"/>
                <a:ea typeface="Calibri" pitchFamily="34" charset="-122"/>
                <a:cs typeface="Calibri" pitchFamily="34" charset="-120"/>
              </a:rPr>
              <a:t>Questions?</a:t>
            </a:r>
            <a:endParaRPr lang="en-US" sz="2800" dirty="0"/>
          </a:p>
        </p:txBody>
      </p:sp>
      <p:sp>
        <p:nvSpPr>
          <p:cNvPr id="4" name="Text 2"/>
          <p:cNvSpPr/>
          <p:nvPr/>
        </p:nvSpPr>
        <p:spPr>
          <a:xfrm>
            <a:off x="457200" y="6217920"/>
            <a:ext cx="11247120" cy="365760"/>
          </a:xfrm>
          <a:prstGeom prst="rect">
            <a:avLst/>
          </a:prstGeom>
          <a:noFill/>
          <a:ln/>
        </p:spPr>
        <p:txBody>
          <a:bodyPr wrap="square" rtlCol="0" anchor="ctr"/>
          <a:lstStyle/>
          <a:p>
            <a:pPr marL="0" indent="0" algn="ctr">
              <a:buNone/>
            </a:pPr>
            <a:r>
              <a:rPr lang="en-US" sz="1200" dirty="0">
                <a:solidFill>
                  <a:srgbClr val="F5F5F5"/>
                </a:solidFill>
                <a:latin typeface="Calibri" pitchFamily="34" charset="0"/>
                <a:ea typeface="Calibri" pitchFamily="34" charset="-122"/>
                <a:cs typeface="Calibri" pitchFamily="34" charset="-120"/>
              </a:rPr>
              <a:t>Data: CITES Trade Database  ·  trade.cites.org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1509</Words>
  <Application>Microsoft Office PowerPoint</Application>
  <PresentationFormat>Widescreen</PresentationFormat>
  <Paragraphs>109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Ebrahim Makki</cp:lastModifiedBy>
  <cp:revision>3</cp:revision>
  <dcterms:created xsi:type="dcterms:W3CDTF">2026-07-11T21:56:49Z</dcterms:created>
  <dcterms:modified xsi:type="dcterms:W3CDTF">2026-07-11T22:09:48Z</dcterms:modified>
</cp:coreProperties>
</file>